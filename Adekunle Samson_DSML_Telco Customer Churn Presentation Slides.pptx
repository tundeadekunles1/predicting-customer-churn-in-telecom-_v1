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8" r:id="rId1"/>
  </p:sldMasterIdLst>
  <p:notesMasterIdLst>
    <p:notesMasterId r:id="rId13"/>
  </p:notesMasterIdLst>
  <p:sldIdLst>
    <p:sldId id="264" r:id="rId2"/>
    <p:sldId id="256" r:id="rId3"/>
    <p:sldId id="265" r:id="rId4"/>
    <p:sldId id="266" r:id="rId5"/>
    <p:sldId id="268" r:id="rId6"/>
    <p:sldId id="257" r:id="rId7"/>
    <p:sldId id="260" r:id="rId8"/>
    <p:sldId id="258" r:id="rId9"/>
    <p:sldId id="263" r:id="rId10"/>
    <p:sldId id="261" r:id="rId11"/>
    <p:sldId id="267" r:id="rId1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10"/>
  </p:normalViewPr>
  <p:slideViewPr>
    <p:cSldViewPr snapToGrid="0" snapToObjects="1">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8157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4D7E6-6F3E-7264-5FB9-024B1C21F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8A9F1-39F3-22EC-9FDD-8E2815CFC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66F778-023F-32A8-109C-556A1FB38414}"/>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CE7D65FC-9CBA-346D-3595-C7D27E383EA4}"/>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5083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1F2CD-665A-D25E-E8B8-77340192D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7FC85-E82C-7ADE-4459-66E1F31B6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5C14D-394C-8FB5-9A7B-959E1C24AE28}"/>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BFF69AAE-A31B-A8FE-C3EC-1CE856F2684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33540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08428-4FE6-DCE3-5A0D-A9717189F4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84BFB-A360-8EDF-23FC-916928F1E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C63219-E617-9A4A-FCC1-EB1067FCFA23}"/>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77B2D676-A7BC-34C8-7686-701EB98CA93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99076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Feature engineering is where most churn projects accidentally “cheat”. If we accidentally include the label or compute thresholds on the full dataset, evaluation looks better than reality. We fix TotalCharges NaNs, use safe ratios, and treat the trained feature list as the contract.
[Sources]
- Internal project file: feature_engineering.py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We train several model families. The main point is not complexity; it is reliable ranking at the top of the list. We use a stratified holdout and report top‑k metrics because that matches how retention teams operate.
[Sources]
- Internal project file: model_comparison_results.csv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Script]
The app is the operational layer: it turns a trained model into a weekly action list. The next step is not more modeling; it is a controlled pilot to quantify ROI, plus basic monitoring to ensure performance does not drift.
[Sources]
- Internal project file: app_retention_targeting_v2_clean.py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116D-8B3A-BAFD-DFD2-684F09CE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B4D9E-CAB1-0FC9-F468-F1738FA80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C01F4-5F56-A30D-C474-7494EE5321E2}"/>
              </a:ext>
            </a:extLst>
          </p:cNvPr>
          <p:cNvSpPr>
            <a:spLocks noGrp="1"/>
          </p:cNvSpPr>
          <p:nvPr>
            <p:ph type="body" idx="1"/>
          </p:nvPr>
        </p:nvSpPr>
        <p:spPr/>
        <p:txBody>
          <a:bodyPr/>
          <a:lstStyle/>
          <a:p>
            <a:r>
              <a:rPr lang="en-US" dirty="0"/>
              <a:t>[
Script]
In five minutes I will show: (1) how we engineered features safely, (2) how we trained models, (3) how we evaluated using Lift@k, (4) how we selected a champion using min–max weighted scoring, and (5) what the Streamlit app delivers operationally.
[Sources]
- Internal project file: model_comparison_results.csv
</a:t>
            </a:r>
          </a:p>
        </p:txBody>
      </p:sp>
      <p:sp>
        <p:nvSpPr>
          <p:cNvPr id="4" name="Slide Number Placeholder 3">
            <a:extLst>
              <a:ext uri="{FF2B5EF4-FFF2-40B4-BE49-F238E27FC236}">
                <a16:creationId xmlns:a16="http://schemas.microsoft.com/office/drawing/2014/main" id="{5DDC09B6-5702-A29A-73D2-AD2C52CBD45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40251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D65E-CC68-25F7-BD63-BDD5BFF51A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BA6178-915C-93A8-24DA-91BB70F7D6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A39747-C1AF-7C74-83DC-D40E130FC14C}"/>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9A0C3B20-0416-3F41-E464-8E282A3DFBE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C91AC4F-ECEE-90C3-6381-840ECAE073A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945395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A466A-6EB1-662E-69AA-B6F7D9E0B0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289FEC-6A55-004E-F358-6F19E4A9C2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D59A4-3811-22B0-13AE-446E2BAB6985}"/>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C006664B-CA4A-4BE9-9199-9D5EA09792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2B9F29-41FC-8A2D-DF80-8BC17F2CD6D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588293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75AC0-4588-4DFD-DA86-F0D4640A68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3ECDF6-64EC-4279-70E3-9072CDE1BC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901F4B-BA06-2BB4-A3A3-6C955F4D8CB7}"/>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A116092C-FAB4-67AF-7800-5A942B87A7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091068-AAE4-56CE-77F8-CF3A512C2A3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521997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90576-A2CA-A178-40AE-74C7917637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AACAB9-B297-9644-02D7-98D6444AA1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D83662-ACD9-F141-FCE7-1920A29397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2453EF-C943-6312-2B67-666EB2A997B0}"/>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6" name="Footer Placeholder 5">
            <a:extLst>
              <a:ext uri="{FF2B5EF4-FFF2-40B4-BE49-F238E27FC236}">
                <a16:creationId xmlns:a16="http://schemas.microsoft.com/office/drawing/2014/main" id="{7FD5B760-9A1D-5266-73FD-D49312D19A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ACA851-7C31-2A1D-50DE-5A3C7B6940A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440620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73553-B726-E29A-FE82-8561B80AEE0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3921825-DC76-223D-A564-28F3580475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14F96-63D5-DB77-6735-493DFF50C7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A3C025-E224-0AD2-D8FB-7B787C81E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AF481-A918-0C3F-58DB-6EDFE240A4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E7957B-0452-B63C-E9D0-2431C689987A}"/>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8" name="Footer Placeholder 7">
            <a:extLst>
              <a:ext uri="{FF2B5EF4-FFF2-40B4-BE49-F238E27FC236}">
                <a16:creationId xmlns:a16="http://schemas.microsoft.com/office/drawing/2014/main" id="{5540418C-03F4-682B-1891-3FFAEA96428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15D3DBA-5E61-581F-ADE3-EA575466129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05325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6538E-A262-D933-5D99-D039420AEF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4CC22A-C9F3-F206-F3B0-3391DF27CF33}"/>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4" name="Footer Placeholder 3">
            <a:extLst>
              <a:ext uri="{FF2B5EF4-FFF2-40B4-BE49-F238E27FC236}">
                <a16:creationId xmlns:a16="http://schemas.microsoft.com/office/drawing/2014/main" id="{D64BBAB4-222E-DA2B-BABF-08E608D08F5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02D3B91-778A-1A77-724B-376D79DBAD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168792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5CA747-684D-5D50-C614-B4B01D117985}"/>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3" name="Footer Placeholder 2">
            <a:extLst>
              <a:ext uri="{FF2B5EF4-FFF2-40B4-BE49-F238E27FC236}">
                <a16:creationId xmlns:a16="http://schemas.microsoft.com/office/drawing/2014/main" id="{4306748B-CC3E-2ADA-329B-C2C06467147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8BBC431-A930-15DE-A78D-410877A2B59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8816304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C04A7-C260-C8AC-C87D-7A8BC92C40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2E12FF-E4CD-2F72-3905-7D9E90F9A8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BB93B27-97DF-263E-D9C4-0007960D7A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25C35-45D7-C5FD-A2FF-3014A0D29990}"/>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6" name="Footer Placeholder 5">
            <a:extLst>
              <a:ext uri="{FF2B5EF4-FFF2-40B4-BE49-F238E27FC236}">
                <a16:creationId xmlns:a16="http://schemas.microsoft.com/office/drawing/2014/main" id="{86066444-1A28-264E-000F-36C85DF23BE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7B3A5F0-2F35-FDC4-0097-5864C26B553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11648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9C6C4-78CE-3308-6FBA-D21A239B3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D7F4D3-F883-5DF9-B066-CF3C5DB12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E68294-3E2D-78F3-62DC-9B9B72928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F42BB4-8DF5-6A87-7289-B7737A3C458B}"/>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6" name="Footer Placeholder 5">
            <a:extLst>
              <a:ext uri="{FF2B5EF4-FFF2-40B4-BE49-F238E27FC236}">
                <a16:creationId xmlns:a16="http://schemas.microsoft.com/office/drawing/2014/main" id="{2C06BA56-9FD0-7739-83D5-6376EBD25F3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D8024F6-C17E-88A3-5818-50CB9090C24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847158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F0372-8BC5-06A2-0169-06740C1CD8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15D428-884A-D452-610F-DA64270689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B2025D-5A45-3C36-F7F0-B1702983617F}"/>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D0E7FFC2-9583-1494-C2AA-6C7CE1C9FB6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F644476-1C9D-02CD-714E-14AC46D76C5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887163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C94BAF-A0F0-F47D-B5D7-A9326B5A59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20EAC4-DB19-C921-5A3A-602E3A57A1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458AE-A06C-35F9-8DE3-0199BAB966CF}"/>
              </a:ext>
            </a:extLst>
          </p:cNvPr>
          <p:cNvSpPr>
            <a:spLocks noGrp="1"/>
          </p:cNvSpPr>
          <p:nvPr>
            <p:ph type="dt" sz="half" idx="10"/>
          </p:nvPr>
        </p:nvSpPr>
        <p:spPr/>
        <p:txBody>
          <a:body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4D8665A3-101C-8E77-248F-4CE78517F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EAB432-82FC-83A8-0645-1624A80164B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924546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1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62BCAB-8614-27E9-594F-31210BB938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133ED6-C805-BF60-C149-966E54974C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1085B6-9091-C8DC-D80F-0C9129DC57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1/14/2026</a:t>
            </a:fld>
            <a:endParaRPr lang="en-US" dirty="0"/>
          </a:p>
        </p:txBody>
      </p:sp>
      <p:sp>
        <p:nvSpPr>
          <p:cNvPr id="5" name="Footer Placeholder 4">
            <a:extLst>
              <a:ext uri="{FF2B5EF4-FFF2-40B4-BE49-F238E27FC236}">
                <a16:creationId xmlns:a16="http://schemas.microsoft.com/office/drawing/2014/main" id="{D869273A-2F84-73F6-89C1-D7B1923259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1466410-F543-418A-C443-32762D577A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545481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10" descr="Desk with computer, phone, books, etc.">
            <a:extLst>
              <a:ext uri="{FF2B5EF4-FFF2-40B4-BE49-F238E27FC236}">
                <a16:creationId xmlns:a16="http://schemas.microsoft.com/office/drawing/2014/main" id="{DF08E88F-5091-FD37-7CC2-4F979329AC40}"/>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232617"/>
          </a:xfrm>
          <a:prstGeom prst="rect">
            <a:avLst/>
          </a:prstGeom>
        </p:spPr>
      </p:pic>
      <p:sp>
        <p:nvSpPr>
          <p:cNvPr id="7" name="Title 2">
            <a:extLst>
              <a:ext uri="{FF2B5EF4-FFF2-40B4-BE49-F238E27FC236}">
                <a16:creationId xmlns:a16="http://schemas.microsoft.com/office/drawing/2014/main" id="{35CB4389-D71C-828F-D231-3294FE74AD67}"/>
              </a:ext>
            </a:extLst>
          </p:cNvPr>
          <p:cNvSpPr txBox="1">
            <a:spLocks/>
          </p:cNvSpPr>
          <p:nvPr/>
        </p:nvSpPr>
        <p:spPr>
          <a:xfrm>
            <a:off x="6235700" y="2816896"/>
            <a:ext cx="5956300" cy="1224208"/>
          </a:xfrm>
          <a:prstGeom prst="rect">
            <a:avLst/>
          </a:prstGeom>
          <a:solidFill>
            <a:schemeClr val="bg2">
              <a:lumMod val="90000"/>
            </a:schemeClr>
          </a:solidFill>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Capstone Project : Predicting Customer Churn in Telecom</a:t>
            </a:r>
          </a:p>
        </p:txBody>
      </p:sp>
      <p:sp>
        <p:nvSpPr>
          <p:cNvPr id="8" name="Text Placeholder 13">
            <a:extLst>
              <a:ext uri="{FF2B5EF4-FFF2-40B4-BE49-F238E27FC236}">
                <a16:creationId xmlns:a16="http://schemas.microsoft.com/office/drawing/2014/main" id="{B71586F0-C6BB-BD37-9F49-AA2302DD4FE1}"/>
              </a:ext>
            </a:extLst>
          </p:cNvPr>
          <p:cNvSpPr txBox="1">
            <a:spLocks/>
          </p:cNvSpPr>
          <p:nvPr/>
        </p:nvSpPr>
        <p:spPr>
          <a:xfrm>
            <a:off x="6235700" y="4148860"/>
            <a:ext cx="5956300" cy="615973"/>
          </a:xfrm>
          <a:prstGeom prst="rect">
            <a:avLst/>
          </a:prstGeom>
          <a:solidFill>
            <a:schemeClr val="accent1">
              <a:lumMod val="50000"/>
            </a:schemeClr>
          </a:solidFill>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3200" b="1" dirty="0">
                <a:solidFill>
                  <a:schemeClr val="bg1"/>
                </a:solidFill>
                <a:latin typeface="Aptos Display" pitchFamily="34" charset="0"/>
                <a:ea typeface="Aptos Display" pitchFamily="34" charset="-122"/>
                <a:cs typeface="Aptos Display" pitchFamily="34" charset="-120"/>
              </a:rPr>
              <a:t>Telco Churn Retention Targeting</a:t>
            </a:r>
            <a:endParaRPr lang="en-US" sz="3200" dirty="0">
              <a:solidFill>
                <a:schemeClr val="bg1"/>
              </a:solidFill>
            </a:endParaRPr>
          </a:p>
        </p:txBody>
      </p:sp>
      <p:sp>
        <p:nvSpPr>
          <p:cNvPr id="9" name="Slide Number Placeholder 4">
            <a:extLst>
              <a:ext uri="{FF2B5EF4-FFF2-40B4-BE49-F238E27FC236}">
                <a16:creationId xmlns:a16="http://schemas.microsoft.com/office/drawing/2014/main" id="{A639878D-E5AF-A9D8-985D-F7A402BB04E7}"/>
              </a:ext>
            </a:extLst>
          </p:cNvPr>
          <p:cNvSpPr txBox="1">
            <a:spLocks/>
          </p:cNvSpPr>
          <p:nvPr/>
        </p:nvSpPr>
        <p:spPr>
          <a:xfrm>
            <a:off x="11760000" y="6371351"/>
            <a:ext cx="432000" cy="432000"/>
          </a:xfrm>
          <a:prstGeom prst="rect">
            <a:avLst/>
          </a:prstGeom>
          <a:solidFill>
            <a:schemeClr val="tx1">
              <a:lumMod val="95000"/>
              <a:lumOff val="5000"/>
            </a:schemeClr>
          </a:solidFill>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9B51A1E-902D-48AF-9020-955120F399B6}" type="slidenum">
              <a:rPr lang="en-US" smtClean="0"/>
              <a:pPr/>
              <a:t>1</a:t>
            </a:fld>
            <a:endParaRPr lang="en-US" dirty="0"/>
          </a:p>
        </p:txBody>
      </p:sp>
      <p:sp>
        <p:nvSpPr>
          <p:cNvPr id="11" name="TextBox 10">
            <a:extLst>
              <a:ext uri="{FF2B5EF4-FFF2-40B4-BE49-F238E27FC236}">
                <a16:creationId xmlns:a16="http://schemas.microsoft.com/office/drawing/2014/main" id="{D5775017-5DB7-71E6-9CA1-688881C7B8EB}"/>
              </a:ext>
            </a:extLst>
          </p:cNvPr>
          <p:cNvSpPr txBox="1"/>
          <p:nvPr/>
        </p:nvSpPr>
        <p:spPr>
          <a:xfrm>
            <a:off x="6235699" y="5015009"/>
            <a:ext cx="5415183" cy="369332"/>
          </a:xfrm>
          <a:prstGeom prst="rect">
            <a:avLst/>
          </a:prstGeom>
          <a:solidFill>
            <a:schemeClr val="bg2"/>
          </a:solidFill>
        </p:spPr>
        <p:txBody>
          <a:bodyPr wrap="square" rtlCol="0">
            <a:spAutoFit/>
          </a:bodyPr>
          <a:lstStyle/>
          <a:p>
            <a:r>
              <a:rPr lang="en-US" dirty="0"/>
              <a:t>Mentee: Olatunde Samson Adekunle _</a:t>
            </a:r>
            <a:r>
              <a:rPr lang="en-US" sz="800" b="1" dirty="0"/>
              <a:t> (DSML) FE/23/20528373</a:t>
            </a:r>
            <a:endParaRPr lang="en-US" b="1" dirty="0"/>
          </a:p>
        </p:txBody>
      </p:sp>
      <p:sp>
        <p:nvSpPr>
          <p:cNvPr id="13" name="TextBox 12">
            <a:extLst>
              <a:ext uri="{FF2B5EF4-FFF2-40B4-BE49-F238E27FC236}">
                <a16:creationId xmlns:a16="http://schemas.microsoft.com/office/drawing/2014/main" id="{C5530B66-4704-D912-BEE1-FA515A5E070F}"/>
              </a:ext>
            </a:extLst>
          </p:cNvPr>
          <p:cNvSpPr txBox="1"/>
          <p:nvPr/>
        </p:nvSpPr>
        <p:spPr>
          <a:xfrm>
            <a:off x="6235700" y="5445975"/>
            <a:ext cx="5415184" cy="369332"/>
          </a:xfrm>
          <a:prstGeom prst="rect">
            <a:avLst/>
          </a:prstGeom>
          <a:solidFill>
            <a:schemeClr val="bg2"/>
          </a:solidFill>
        </p:spPr>
        <p:txBody>
          <a:bodyPr wrap="square" rtlCol="0">
            <a:spAutoFit/>
          </a:bodyPr>
          <a:lstStyle/>
          <a:p>
            <a:r>
              <a:rPr lang="en-US" dirty="0"/>
              <a:t>Mentor: Olatunji Bilikisu</a:t>
            </a:r>
          </a:p>
        </p:txBody>
      </p:sp>
      <p:sp>
        <p:nvSpPr>
          <p:cNvPr id="14" name="TextBox 13">
            <a:extLst>
              <a:ext uri="{FF2B5EF4-FFF2-40B4-BE49-F238E27FC236}">
                <a16:creationId xmlns:a16="http://schemas.microsoft.com/office/drawing/2014/main" id="{E71BC612-A188-EDF7-3F0A-58FAED4D494A}"/>
              </a:ext>
            </a:extLst>
          </p:cNvPr>
          <p:cNvSpPr txBox="1"/>
          <p:nvPr/>
        </p:nvSpPr>
        <p:spPr>
          <a:xfrm>
            <a:off x="6235700" y="5863285"/>
            <a:ext cx="5415184" cy="369332"/>
          </a:xfrm>
          <a:prstGeom prst="rect">
            <a:avLst/>
          </a:prstGeom>
          <a:solidFill>
            <a:schemeClr val="bg2"/>
          </a:solidFill>
        </p:spPr>
        <p:txBody>
          <a:bodyPr wrap="square" rtlCol="0">
            <a:spAutoFit/>
          </a:bodyPr>
          <a:lstStyle>
            <a:defPPr>
              <a:defRPr lang="en-US"/>
            </a:defPPr>
            <a:lvl1pPr>
              <a:defRPr/>
            </a:lvl1pPr>
          </a:lstStyle>
          <a:p>
            <a:r>
              <a:rPr lang="en-US" dirty="0"/>
              <a:t>Date: January 2026</a:t>
            </a:r>
          </a:p>
        </p:txBody>
      </p:sp>
    </p:spTree>
    <p:extLst>
      <p:ext uri="{BB962C8B-B14F-4D97-AF65-F5344CB8AC3E}">
        <p14:creationId xmlns:p14="http://schemas.microsoft.com/office/powerpoint/2010/main" val="3539913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9FAFB"/>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r>
              <a:rPr lang="en-US" sz="3400" b="1" dirty="0">
                <a:solidFill>
                  <a:srgbClr val="1F2937"/>
                </a:solidFill>
                <a:latin typeface="Aptos Display" pitchFamily="34" charset="0"/>
              </a:rPr>
              <a:t>Problem Statement</a:t>
            </a:r>
          </a:p>
        </p:txBody>
      </p:sp>
      <p:sp>
        <p:nvSpPr>
          <p:cNvPr id="12" name="Shape 10"/>
          <p:cNvSpPr/>
          <p:nvPr/>
        </p:nvSpPr>
        <p:spPr>
          <a:xfrm>
            <a:off x="629728" y="1051250"/>
            <a:ext cx="11171208" cy="5220154"/>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6" name="Content Placeholder 2">
            <a:extLst>
              <a:ext uri="{FF2B5EF4-FFF2-40B4-BE49-F238E27FC236}">
                <a16:creationId xmlns:a16="http://schemas.microsoft.com/office/drawing/2014/main" id="{57D5BA0F-4D43-B8A8-CE06-CA0D56466323}"/>
              </a:ext>
            </a:extLst>
          </p:cNvPr>
          <p:cNvSpPr txBox="1">
            <a:spLocks/>
          </p:cNvSpPr>
          <p:nvPr/>
        </p:nvSpPr>
        <p:spPr>
          <a:xfrm>
            <a:off x="765111" y="1362269"/>
            <a:ext cx="8956859" cy="456304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SzPct val="100000"/>
              <a:buFont typeface="Wingdings" panose="05000000000000000000" pitchFamily="2" charset="2"/>
              <a:buChar char="q"/>
            </a:pPr>
            <a:r>
              <a:rPr lang="en-US" sz="2400" dirty="0">
                <a:solidFill>
                  <a:srgbClr val="111827"/>
                </a:solidFill>
                <a:latin typeface="Aptos" pitchFamily="34" charset="0"/>
              </a:rPr>
              <a:t>Customer churn is a critical issue in telecom.</a:t>
            </a:r>
          </a:p>
          <a:p>
            <a:pPr>
              <a:lnSpc>
                <a:spcPct val="110000"/>
              </a:lnSpc>
              <a:buSzPct val="100000"/>
              <a:buFont typeface="Wingdings" panose="05000000000000000000" pitchFamily="2" charset="2"/>
              <a:buChar char="q"/>
            </a:pPr>
            <a:r>
              <a:rPr lang="en-US" sz="2400" dirty="0">
                <a:solidFill>
                  <a:srgbClr val="111827"/>
                </a:solidFill>
                <a:latin typeface="Aptos" pitchFamily="34" charset="0"/>
              </a:rPr>
              <a:t>Rising churn → loss of market share → revenue decline.</a:t>
            </a:r>
          </a:p>
          <a:p>
            <a:pPr>
              <a:lnSpc>
                <a:spcPct val="110000"/>
              </a:lnSpc>
              <a:buSzPct val="100000"/>
              <a:buFont typeface="Wingdings" panose="05000000000000000000" pitchFamily="2" charset="2"/>
              <a:buChar char="q"/>
            </a:pPr>
            <a:r>
              <a:rPr lang="en-US" sz="2400" dirty="0">
                <a:solidFill>
                  <a:srgbClr val="111827"/>
                </a:solidFill>
                <a:latin typeface="Aptos" pitchFamily="34" charset="0"/>
              </a:rPr>
              <a:t>Telecoms lose 15-25% customers annually, costing millions in acquisition (5-10x retention cost).</a:t>
            </a:r>
          </a:p>
          <a:p>
            <a:pPr>
              <a:lnSpc>
                <a:spcPct val="110000"/>
              </a:lnSpc>
              <a:buSzPct val="100000"/>
              <a:buFont typeface="Wingdings" panose="05000000000000000000" pitchFamily="2" charset="2"/>
              <a:buChar char="q"/>
            </a:pPr>
            <a:r>
              <a:rPr lang="en-US" sz="2400" dirty="0">
                <a:solidFill>
                  <a:srgbClr val="111827"/>
                </a:solidFill>
                <a:latin typeface="Aptos" pitchFamily="34" charset="0"/>
              </a:rPr>
              <a:t>Example : GLO had a  reduction in market share  churn with dip in market share decline from 26% → 20% decline in market share , 9mobile from 15 % - 3 % </a:t>
            </a:r>
          </a:p>
          <a:p>
            <a:pPr>
              <a:lnSpc>
                <a:spcPct val="110000"/>
              </a:lnSpc>
              <a:buSzPct val="100000"/>
              <a:buFont typeface="Wingdings" panose="05000000000000000000" pitchFamily="2" charset="2"/>
              <a:buChar char="q"/>
            </a:pPr>
            <a:r>
              <a:rPr lang="en-US" sz="2400" dirty="0">
                <a:solidFill>
                  <a:srgbClr val="111827"/>
                </a:solidFill>
                <a:latin typeface="Aptos" pitchFamily="34" charset="0"/>
              </a:rPr>
              <a:t>Predicting Customer retention targeting is key </a:t>
            </a:r>
          </a:p>
          <a:p>
            <a:pPr>
              <a:lnSpc>
                <a:spcPct val="110000"/>
              </a:lnSpc>
              <a:buSzPct val="100000"/>
              <a:buFont typeface="Wingdings" panose="05000000000000000000" pitchFamily="2" charset="2"/>
              <a:buChar char="q"/>
            </a:pPr>
            <a:endParaRPr lang="en-US" sz="2400" dirty="0">
              <a:solidFill>
                <a:srgbClr val="111827"/>
              </a:solidFill>
              <a:latin typeface="Aptos"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75001254-7B6E-6516-576D-9BD9F221E8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680AEA-221F-4099-F14F-7A9E98B9A5EA}"/>
              </a:ext>
            </a:extLst>
          </p:cNvPr>
          <p:cNvSpPr/>
          <p:nvPr/>
        </p:nvSpPr>
        <p:spPr>
          <a:xfrm>
            <a:off x="548640" y="338328"/>
            <a:ext cx="11288175" cy="548640"/>
          </a:xfrm>
          <a:prstGeom prst="rect">
            <a:avLst/>
          </a:prstGeom>
          <a:noFill/>
          <a:ln/>
        </p:spPr>
        <p:txBody>
          <a:bodyPr wrap="square" rtlCol="0" anchor="ctr"/>
          <a:lstStyle/>
          <a:p>
            <a:r>
              <a:rPr lang="en-US" sz="3400" b="1" dirty="0">
                <a:solidFill>
                  <a:srgbClr val="1F2937"/>
                </a:solidFill>
                <a:latin typeface="Aptos Display" pitchFamily="34" charset="0"/>
              </a:rPr>
              <a:t>Predicting Customer Churn in Telecom</a:t>
            </a:r>
          </a:p>
        </p:txBody>
      </p:sp>
      <p:sp>
        <p:nvSpPr>
          <p:cNvPr id="3" name="Text 1">
            <a:extLst>
              <a:ext uri="{FF2B5EF4-FFF2-40B4-BE49-F238E27FC236}">
                <a16:creationId xmlns:a16="http://schemas.microsoft.com/office/drawing/2014/main" id="{9C7B1E41-D9BA-3CE2-18CC-00B949065639}"/>
              </a:ext>
            </a:extLst>
          </p:cNvPr>
          <p:cNvSpPr/>
          <p:nvPr/>
        </p:nvSpPr>
        <p:spPr>
          <a:xfrm>
            <a:off x="548640" y="932688"/>
            <a:ext cx="11064240" cy="365760"/>
          </a:xfrm>
          <a:prstGeom prst="rect">
            <a:avLst/>
          </a:prstGeom>
          <a:noFill/>
          <a:ln/>
        </p:spPr>
        <p:txBody>
          <a:bodyPr wrap="square" rtlCol="0" anchor="ctr"/>
          <a:lstStyle/>
          <a:p>
            <a:r>
              <a:rPr lang="en-US" sz="1600" b="1" dirty="0">
                <a:solidFill>
                  <a:srgbClr val="1F2937"/>
                </a:solidFill>
                <a:latin typeface="Aptos Display" pitchFamily="34" charset="0"/>
              </a:rPr>
              <a:t>Predicting Customer Churn in Telecom -&gt; </a:t>
            </a:r>
            <a:r>
              <a:rPr lang="en-US" sz="1600" b="1" dirty="0">
                <a:solidFill>
                  <a:srgbClr val="1F2937"/>
                </a:solidFill>
                <a:latin typeface="Aptos Display" pitchFamily="34" charset="0"/>
                <a:ea typeface="Aptos Display" pitchFamily="34" charset="-122"/>
                <a:cs typeface="Aptos Display" pitchFamily="34" charset="-120"/>
              </a:rPr>
              <a:t>Churn Retention Targeting</a:t>
            </a:r>
            <a:endParaRPr lang="en-US" sz="1600" dirty="0"/>
          </a:p>
        </p:txBody>
      </p:sp>
      <p:sp>
        <p:nvSpPr>
          <p:cNvPr id="4" name="Shape 2">
            <a:extLst>
              <a:ext uri="{FF2B5EF4-FFF2-40B4-BE49-F238E27FC236}">
                <a16:creationId xmlns:a16="http://schemas.microsoft.com/office/drawing/2014/main" id="{E38EFCAA-5F03-7B02-2FFF-BC202AEC4FBF}"/>
              </a:ext>
            </a:extLst>
          </p:cNvPr>
          <p:cNvSpPr/>
          <p:nvPr/>
        </p:nvSpPr>
        <p:spPr>
          <a:xfrm>
            <a:off x="548640" y="1417320"/>
            <a:ext cx="2560320" cy="384048"/>
          </a:xfrm>
          <a:prstGeom prst="roundRect">
            <a:avLst/>
          </a:prstGeom>
          <a:solidFill>
            <a:srgbClr val="EEF2FF"/>
          </a:solidFill>
          <a:ln w="12700">
            <a:solidFill>
              <a:srgbClr val="C7D2FE"/>
            </a:solidFill>
            <a:prstDash val="solid"/>
          </a:ln>
        </p:spPr>
        <p:txBody>
          <a:bodyPr/>
          <a:lstStyle/>
          <a:p>
            <a:endParaRPr lang="en-US"/>
          </a:p>
        </p:txBody>
      </p:sp>
      <p:sp>
        <p:nvSpPr>
          <p:cNvPr id="5" name="Text 3">
            <a:extLst>
              <a:ext uri="{FF2B5EF4-FFF2-40B4-BE49-F238E27FC236}">
                <a16:creationId xmlns:a16="http://schemas.microsoft.com/office/drawing/2014/main" id="{108563D9-B3E1-5C55-A749-C32C151860E8}"/>
              </a:ext>
            </a:extLst>
          </p:cNvPr>
          <p:cNvSpPr/>
          <p:nvPr/>
        </p:nvSpPr>
        <p:spPr>
          <a:xfrm>
            <a:off x="676656" y="1481328"/>
            <a:ext cx="230428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Baseline churn ≈ 26.5%</a:t>
            </a:r>
            <a:endParaRPr lang="en-US" sz="1300" dirty="0"/>
          </a:p>
        </p:txBody>
      </p:sp>
      <p:sp>
        <p:nvSpPr>
          <p:cNvPr id="6" name="Shape 4">
            <a:extLst>
              <a:ext uri="{FF2B5EF4-FFF2-40B4-BE49-F238E27FC236}">
                <a16:creationId xmlns:a16="http://schemas.microsoft.com/office/drawing/2014/main" id="{1A800FAC-66FC-020F-6CBF-9D8BD48E3DC5}"/>
              </a:ext>
            </a:extLst>
          </p:cNvPr>
          <p:cNvSpPr/>
          <p:nvPr/>
        </p:nvSpPr>
        <p:spPr>
          <a:xfrm>
            <a:off x="3246120" y="1417320"/>
            <a:ext cx="2468880" cy="384048"/>
          </a:xfrm>
          <a:prstGeom prst="roundRect">
            <a:avLst/>
          </a:prstGeom>
          <a:solidFill>
            <a:srgbClr val="EEF2FF"/>
          </a:solidFill>
          <a:ln w="12700">
            <a:solidFill>
              <a:srgbClr val="C7D2FE"/>
            </a:solidFill>
            <a:prstDash val="solid"/>
          </a:ln>
        </p:spPr>
        <p:txBody>
          <a:bodyPr/>
          <a:lstStyle/>
          <a:p>
            <a:endParaRPr lang="en-US"/>
          </a:p>
        </p:txBody>
      </p:sp>
      <p:sp>
        <p:nvSpPr>
          <p:cNvPr id="7" name="Text 5">
            <a:extLst>
              <a:ext uri="{FF2B5EF4-FFF2-40B4-BE49-F238E27FC236}">
                <a16:creationId xmlns:a16="http://schemas.microsoft.com/office/drawing/2014/main" id="{F024A6F2-CD1B-6E87-6664-C13A910472E0}"/>
              </a:ext>
            </a:extLst>
          </p:cNvPr>
          <p:cNvSpPr/>
          <p:nvPr/>
        </p:nvSpPr>
        <p:spPr>
          <a:xfrm>
            <a:off x="3374136" y="1481328"/>
            <a:ext cx="221284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Best Lift@10% ≈ 2.89×</a:t>
            </a:r>
            <a:endParaRPr lang="en-US" sz="1300" dirty="0"/>
          </a:p>
        </p:txBody>
      </p:sp>
      <p:sp>
        <p:nvSpPr>
          <p:cNvPr id="8" name="Shape 6">
            <a:extLst>
              <a:ext uri="{FF2B5EF4-FFF2-40B4-BE49-F238E27FC236}">
                <a16:creationId xmlns:a16="http://schemas.microsoft.com/office/drawing/2014/main" id="{7D11925C-1594-D38E-846B-491605C38D59}"/>
              </a:ext>
            </a:extLst>
          </p:cNvPr>
          <p:cNvSpPr/>
          <p:nvPr/>
        </p:nvSpPr>
        <p:spPr>
          <a:xfrm>
            <a:off x="5806440" y="1417320"/>
            <a:ext cx="2926080" cy="384048"/>
          </a:xfrm>
          <a:prstGeom prst="roundRect">
            <a:avLst/>
          </a:prstGeom>
          <a:solidFill>
            <a:srgbClr val="EEF2FF"/>
          </a:solidFill>
          <a:ln w="12700">
            <a:solidFill>
              <a:srgbClr val="C7D2FE"/>
            </a:solidFill>
            <a:prstDash val="solid"/>
          </a:ln>
        </p:spPr>
        <p:txBody>
          <a:bodyPr/>
          <a:lstStyle/>
          <a:p>
            <a:endParaRPr lang="en-US"/>
          </a:p>
        </p:txBody>
      </p:sp>
      <p:sp>
        <p:nvSpPr>
          <p:cNvPr id="9" name="Text 7">
            <a:extLst>
              <a:ext uri="{FF2B5EF4-FFF2-40B4-BE49-F238E27FC236}">
                <a16:creationId xmlns:a16="http://schemas.microsoft.com/office/drawing/2014/main" id="{77307C90-DD22-3ED0-2D1F-251C37BC7F18}"/>
              </a:ext>
            </a:extLst>
          </p:cNvPr>
          <p:cNvSpPr/>
          <p:nvPr/>
        </p:nvSpPr>
        <p:spPr>
          <a:xfrm>
            <a:off x="5934456" y="1481328"/>
            <a:ext cx="267004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Champion (weighted): LR (bal)</a:t>
            </a:r>
            <a:endParaRPr lang="en-US" sz="1300" dirty="0"/>
          </a:p>
        </p:txBody>
      </p:sp>
      <p:sp>
        <p:nvSpPr>
          <p:cNvPr id="10" name="Shape 8">
            <a:extLst>
              <a:ext uri="{FF2B5EF4-FFF2-40B4-BE49-F238E27FC236}">
                <a16:creationId xmlns:a16="http://schemas.microsoft.com/office/drawing/2014/main" id="{3C152C9B-05ED-CEAA-6BC3-5E5180504CCD}"/>
              </a:ext>
            </a:extLst>
          </p:cNvPr>
          <p:cNvSpPr/>
          <p:nvPr/>
        </p:nvSpPr>
        <p:spPr>
          <a:xfrm>
            <a:off x="8915400" y="1417320"/>
            <a:ext cx="2743200" cy="384048"/>
          </a:xfrm>
          <a:prstGeom prst="roundRect">
            <a:avLst/>
          </a:prstGeom>
          <a:solidFill>
            <a:srgbClr val="EEF2FF"/>
          </a:solidFill>
          <a:ln w="12700">
            <a:solidFill>
              <a:srgbClr val="C7D2FE"/>
            </a:solidFill>
            <a:prstDash val="solid"/>
          </a:ln>
        </p:spPr>
        <p:txBody>
          <a:bodyPr/>
          <a:lstStyle/>
          <a:p>
            <a:endParaRPr lang="en-US"/>
          </a:p>
        </p:txBody>
      </p:sp>
      <p:sp>
        <p:nvSpPr>
          <p:cNvPr id="11" name="Text 9">
            <a:extLst>
              <a:ext uri="{FF2B5EF4-FFF2-40B4-BE49-F238E27FC236}">
                <a16:creationId xmlns:a16="http://schemas.microsoft.com/office/drawing/2014/main" id="{41FD4604-8CD2-ECB9-E5EA-FCAFF8E0AE99}"/>
              </a:ext>
            </a:extLst>
          </p:cNvPr>
          <p:cNvSpPr/>
          <p:nvPr/>
        </p:nvSpPr>
        <p:spPr>
          <a:xfrm>
            <a:off x="9043416" y="1481328"/>
            <a:ext cx="2487168" cy="274320"/>
          </a:xfrm>
          <a:prstGeom prst="rect">
            <a:avLst/>
          </a:prstGeom>
          <a:noFill/>
          <a:ln/>
        </p:spPr>
        <p:txBody>
          <a:bodyPr wrap="square" rtlCol="0" anchor="ctr"/>
          <a:lstStyle/>
          <a:p>
            <a:pPr marL="0" indent="0">
              <a:buNone/>
            </a:pPr>
            <a:r>
              <a:rPr lang="en-US" sz="1300" b="1" dirty="0">
                <a:solidFill>
                  <a:srgbClr val="3730A3"/>
                </a:solidFill>
                <a:latin typeface="Aptos" pitchFamily="34" charset="0"/>
                <a:ea typeface="Aptos" pitchFamily="34" charset="-122"/>
                <a:cs typeface="Aptos" pitchFamily="34" charset="-120"/>
              </a:rPr>
              <a:t>Challenger: HGB</a:t>
            </a:r>
            <a:endParaRPr lang="en-US" sz="1300" dirty="0"/>
          </a:p>
        </p:txBody>
      </p:sp>
      <p:sp>
        <p:nvSpPr>
          <p:cNvPr id="12" name="Shape 10">
            <a:extLst>
              <a:ext uri="{FF2B5EF4-FFF2-40B4-BE49-F238E27FC236}">
                <a16:creationId xmlns:a16="http://schemas.microsoft.com/office/drawing/2014/main" id="{5BAEC30E-8A36-5F36-4EC7-B51BA4359616}"/>
              </a:ext>
            </a:extLst>
          </p:cNvPr>
          <p:cNvSpPr/>
          <p:nvPr/>
        </p:nvSpPr>
        <p:spPr>
          <a:xfrm>
            <a:off x="548640" y="1965960"/>
            <a:ext cx="11064240" cy="4206240"/>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3" name="Text 11">
            <a:extLst>
              <a:ext uri="{FF2B5EF4-FFF2-40B4-BE49-F238E27FC236}">
                <a16:creationId xmlns:a16="http://schemas.microsoft.com/office/drawing/2014/main" id="{F413745B-85E3-A547-CC50-1D5E30210098}"/>
              </a:ext>
            </a:extLst>
          </p:cNvPr>
          <p:cNvSpPr/>
          <p:nvPr/>
        </p:nvSpPr>
        <p:spPr>
          <a:xfrm>
            <a:off x="822960" y="2167128"/>
            <a:ext cx="10515600" cy="274320"/>
          </a:xfrm>
          <a:prstGeom prst="rect">
            <a:avLst/>
          </a:prstGeom>
          <a:noFill/>
          <a:ln/>
        </p:spPr>
        <p:txBody>
          <a:bodyPr wrap="square"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What this project delivers</a:t>
            </a:r>
            <a:endParaRPr lang="en-US" sz="2400" dirty="0"/>
          </a:p>
        </p:txBody>
      </p:sp>
      <p:sp>
        <p:nvSpPr>
          <p:cNvPr id="14" name="Text 12">
            <a:extLst>
              <a:ext uri="{FF2B5EF4-FFF2-40B4-BE49-F238E27FC236}">
                <a16:creationId xmlns:a16="http://schemas.microsoft.com/office/drawing/2014/main" id="{D9BDB0B2-9CC4-4EAE-7036-47B0025A12C1}"/>
              </a:ext>
            </a:extLst>
          </p:cNvPr>
          <p:cNvSpPr/>
          <p:nvPr/>
        </p:nvSpPr>
        <p:spPr>
          <a:xfrm>
            <a:off x="868680" y="2514600"/>
            <a:ext cx="10424160" cy="3383280"/>
          </a:xfrm>
          <a:prstGeom prst="rect">
            <a:avLst/>
          </a:prstGeom>
          <a:noFill/>
          <a:ln/>
        </p:spPr>
        <p:txBody>
          <a:bodyPr wrap="square" rtlCol="0" anchor="t"/>
          <a:lstStyle/>
          <a:p>
            <a:pPr marL="342900" indent="-342900">
              <a:lnSpc>
                <a:spcPct val="110000"/>
              </a:lnSpc>
              <a:buSzPct val="100000"/>
              <a:buFont typeface="Wingdings" panose="05000000000000000000" pitchFamily="2" charset="2"/>
              <a:buChar char="Ø"/>
            </a:pPr>
            <a:r>
              <a:rPr lang="en-US" sz="2000" dirty="0">
                <a:solidFill>
                  <a:srgbClr val="111827"/>
                </a:solidFill>
                <a:latin typeface="Aptos" pitchFamily="34" charset="0"/>
                <a:ea typeface="Aptos" pitchFamily="34" charset="-122"/>
                <a:cs typeface="Aptos" pitchFamily="34" charset="-120"/>
              </a:rPr>
              <a:t>Builds a Predictive model that assigns each customer a churn probability (a “risk score”).</a:t>
            </a:r>
          </a:p>
          <a:p>
            <a:pPr marL="342900" indent="-342900">
              <a:lnSpc>
                <a:spcPct val="110000"/>
              </a:lnSpc>
              <a:buSzPct val="100000"/>
              <a:buFont typeface="Wingdings" panose="05000000000000000000" pitchFamily="2" charset="2"/>
              <a:buChar char="Ø"/>
            </a:pPr>
            <a:endParaRPr lang="en-US" sz="2000" dirty="0"/>
          </a:p>
          <a:p>
            <a:pPr marL="342900" indent="-342900">
              <a:lnSpc>
                <a:spcPct val="110000"/>
              </a:lnSpc>
              <a:buSzPct val="100000"/>
              <a:buFont typeface="Wingdings" panose="05000000000000000000" pitchFamily="2" charset="2"/>
              <a:buChar char="Ø"/>
            </a:pPr>
            <a:r>
              <a:rPr lang="en-US" sz="2000" dirty="0">
                <a:solidFill>
                  <a:srgbClr val="111827"/>
                </a:solidFill>
                <a:latin typeface="Aptos" pitchFamily="34" charset="0"/>
                <a:ea typeface="Aptos" pitchFamily="34" charset="-122"/>
                <a:cs typeface="Aptos" pitchFamily="34" charset="-120"/>
              </a:rPr>
              <a:t>A Streamlit app that ranks customers and produces Top 10% / Top 20% ,Prioritize retention for high-value users; enable proactive campaigns. outreach lists.</a:t>
            </a:r>
          </a:p>
          <a:p>
            <a:pPr>
              <a:lnSpc>
                <a:spcPct val="110000"/>
              </a:lnSpc>
              <a:buSzPct val="100000"/>
            </a:pPr>
            <a:endParaRPr lang="en-US" sz="2000" dirty="0">
              <a:solidFill>
                <a:srgbClr val="111827"/>
              </a:solidFill>
              <a:latin typeface="Aptos" pitchFamily="34" charset="0"/>
              <a:ea typeface="Aptos" pitchFamily="34" charset="-122"/>
              <a:cs typeface="Aptos" pitchFamily="34" charset="-120"/>
            </a:endParaRPr>
          </a:p>
          <a:p>
            <a:pPr marL="342900" indent="-342900">
              <a:lnSpc>
                <a:spcPct val="110000"/>
              </a:lnSpc>
              <a:buSzPct val="100000"/>
              <a:buFont typeface="Wingdings" panose="05000000000000000000" pitchFamily="2" charset="2"/>
              <a:buChar char="Ø"/>
            </a:pPr>
            <a:r>
              <a:rPr lang="en-US" sz="2000" dirty="0">
                <a:solidFill>
                  <a:srgbClr val="111827"/>
                </a:solidFill>
                <a:latin typeface="Aptos" pitchFamily="34" charset="0"/>
                <a:ea typeface="Aptos" pitchFamily="34" charset="-122"/>
                <a:cs typeface="Aptos" pitchFamily="34" charset="-120"/>
              </a:rPr>
              <a:t>Clear metrics: Baseline, Precision@k, Recall@k, Lift@k, plus a weighted model score for selection</a:t>
            </a:r>
            <a:r>
              <a:rPr lang="en-US" sz="2400" dirty="0">
                <a:solidFill>
                  <a:srgbClr val="111827"/>
                </a:solidFill>
                <a:latin typeface="Aptos" pitchFamily="34" charset="0"/>
                <a:ea typeface="Aptos" pitchFamily="34" charset="-122"/>
                <a:cs typeface="Aptos" pitchFamily="34" charset="-120"/>
              </a:rPr>
              <a:t>.</a:t>
            </a:r>
            <a:endParaRPr lang="en-US" sz="2400" dirty="0"/>
          </a:p>
        </p:txBody>
      </p:sp>
    </p:spTree>
    <p:extLst>
      <p:ext uri="{BB962C8B-B14F-4D97-AF65-F5344CB8AC3E}">
        <p14:creationId xmlns:p14="http://schemas.microsoft.com/office/powerpoint/2010/main" val="1045164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C8DCA3EE-CAF7-3E15-7B4A-6168014A89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EFB4AA-E3A5-C8A2-EDA1-EE15A8E5077F}"/>
              </a:ext>
            </a:extLst>
          </p:cNvPr>
          <p:cNvSpPr/>
          <p:nvPr/>
        </p:nvSpPr>
        <p:spPr>
          <a:xfrm>
            <a:off x="548640" y="338328"/>
            <a:ext cx="11288175" cy="548640"/>
          </a:xfrm>
          <a:prstGeom prst="rect">
            <a:avLst/>
          </a:prstGeom>
          <a:noFill/>
          <a:ln/>
        </p:spPr>
        <p:txBody>
          <a:bodyPr wrap="square" rtlCol="0" anchor="ctr"/>
          <a:lstStyle/>
          <a:p>
            <a:r>
              <a:rPr lang="en-US" sz="3400" b="1" dirty="0">
                <a:solidFill>
                  <a:srgbClr val="1F2937"/>
                </a:solidFill>
                <a:latin typeface="Aptos Display" pitchFamily="34" charset="0"/>
              </a:rPr>
              <a:t>Overview</a:t>
            </a:r>
          </a:p>
        </p:txBody>
      </p:sp>
      <p:sp>
        <p:nvSpPr>
          <p:cNvPr id="12" name="Shape 10">
            <a:extLst>
              <a:ext uri="{FF2B5EF4-FFF2-40B4-BE49-F238E27FC236}">
                <a16:creationId xmlns:a16="http://schemas.microsoft.com/office/drawing/2014/main" id="{7EE71E88-1C4C-E14E-FF25-76DF6BB0E15A}"/>
              </a:ext>
            </a:extLst>
          </p:cNvPr>
          <p:cNvSpPr/>
          <p:nvPr/>
        </p:nvSpPr>
        <p:spPr>
          <a:xfrm>
            <a:off x="548640" y="1101012"/>
            <a:ext cx="11064240" cy="5071188"/>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b="1" dirty="0"/>
          </a:p>
        </p:txBody>
      </p:sp>
      <p:sp>
        <p:nvSpPr>
          <p:cNvPr id="13" name="Text 11">
            <a:extLst>
              <a:ext uri="{FF2B5EF4-FFF2-40B4-BE49-F238E27FC236}">
                <a16:creationId xmlns:a16="http://schemas.microsoft.com/office/drawing/2014/main" id="{F36ED336-B880-D605-58CD-51BD1364BEF9}"/>
              </a:ext>
            </a:extLst>
          </p:cNvPr>
          <p:cNvSpPr/>
          <p:nvPr/>
        </p:nvSpPr>
        <p:spPr>
          <a:xfrm>
            <a:off x="822960" y="1470445"/>
            <a:ext cx="4128485" cy="345913"/>
          </a:xfrm>
          <a:prstGeom prst="rect">
            <a:avLst/>
          </a:prstGeom>
          <a:noFill/>
          <a:ln/>
        </p:spPr>
        <p:txBody>
          <a:bodyPr wrap="square"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About the models</a:t>
            </a:r>
            <a:endParaRPr lang="en-US" sz="2400" dirty="0"/>
          </a:p>
        </p:txBody>
      </p:sp>
      <p:sp>
        <p:nvSpPr>
          <p:cNvPr id="14" name="Text 12">
            <a:extLst>
              <a:ext uri="{FF2B5EF4-FFF2-40B4-BE49-F238E27FC236}">
                <a16:creationId xmlns:a16="http://schemas.microsoft.com/office/drawing/2014/main" id="{81972A21-4F6B-BC58-BBA6-2D5A3CF7E991}"/>
              </a:ext>
            </a:extLst>
          </p:cNvPr>
          <p:cNvSpPr/>
          <p:nvPr/>
        </p:nvSpPr>
        <p:spPr>
          <a:xfrm>
            <a:off x="868680" y="2046514"/>
            <a:ext cx="4692365" cy="1611086"/>
          </a:xfrm>
          <a:prstGeom prst="rect">
            <a:avLst/>
          </a:prstGeom>
          <a:noFill/>
          <a:ln/>
        </p:spPr>
        <p:txBody>
          <a:bodyPr wrap="square" rtlCol="0" anchor="t"/>
          <a:lstStyle/>
          <a:p>
            <a:pPr>
              <a:lnSpc>
                <a:spcPct val="110000"/>
              </a:lnSpc>
              <a:buSzPct val="100000"/>
            </a:pPr>
            <a:r>
              <a:rPr lang="en-US" dirty="0"/>
              <a:t>The models does: </a:t>
            </a:r>
          </a:p>
          <a:p>
            <a:pPr marL="285750" indent="-285750">
              <a:lnSpc>
                <a:spcPct val="110000"/>
              </a:lnSpc>
              <a:buSzPct val="100000"/>
              <a:buFont typeface="Arial" panose="020B0604020202020204" pitchFamily="34" charset="0"/>
              <a:buChar char="•"/>
            </a:pPr>
            <a:r>
              <a:rPr lang="en-US" dirty="0"/>
              <a:t>label customers as “churn” or “no churn</a:t>
            </a:r>
          </a:p>
          <a:p>
            <a:pPr marL="285750" indent="-285750">
              <a:lnSpc>
                <a:spcPct val="110000"/>
              </a:lnSpc>
              <a:buSzPct val="100000"/>
              <a:buFont typeface="Arial" panose="020B0604020202020204" pitchFamily="34" charset="0"/>
              <a:buChar char="•"/>
            </a:pPr>
            <a:r>
              <a:rPr lang="en-US" dirty="0"/>
              <a:t>assigns each customer a </a:t>
            </a:r>
            <a:r>
              <a:rPr lang="en-US" b="1" dirty="0"/>
              <a:t>churn probability (risk score)</a:t>
            </a:r>
            <a:r>
              <a:rPr lang="en-US" dirty="0"/>
              <a:t> </a:t>
            </a:r>
          </a:p>
        </p:txBody>
      </p:sp>
      <p:sp>
        <p:nvSpPr>
          <p:cNvPr id="15" name="TextBox 14">
            <a:extLst>
              <a:ext uri="{FF2B5EF4-FFF2-40B4-BE49-F238E27FC236}">
                <a16:creationId xmlns:a16="http://schemas.microsoft.com/office/drawing/2014/main" id="{65538DF3-2A26-40CC-E8E7-03A875D3B006}"/>
              </a:ext>
            </a:extLst>
          </p:cNvPr>
          <p:cNvSpPr txBox="1"/>
          <p:nvPr/>
        </p:nvSpPr>
        <p:spPr>
          <a:xfrm>
            <a:off x="6431903" y="1934547"/>
            <a:ext cx="4368369" cy="2031325"/>
          </a:xfrm>
          <a:prstGeom prst="rect">
            <a:avLst/>
          </a:prstGeom>
          <a:noFill/>
        </p:spPr>
        <p:txBody>
          <a:bodyPr wrap="square" rtlCol="0">
            <a:spAutoFit/>
          </a:bodyPr>
          <a:lstStyle/>
          <a:p>
            <a:r>
              <a:rPr lang="en-US" dirty="0"/>
              <a:t>The models, Logistic Regression, Random Forest, </a:t>
            </a:r>
            <a:r>
              <a:rPr lang="en-US" dirty="0" err="1"/>
              <a:t>HistGradientBoosting</a:t>
            </a:r>
            <a:r>
              <a:rPr lang="en-US" dirty="0"/>
              <a:t>, each produces </a:t>
            </a:r>
            <a:r>
              <a:rPr lang="en-US" b="1" dirty="0"/>
              <a:t>a churn probability (risk score)</a:t>
            </a:r>
            <a:endParaRPr lang="en-US" dirty="0"/>
          </a:p>
          <a:p>
            <a:r>
              <a:rPr lang="en-US" b="1" dirty="0"/>
              <a:t>Output:</a:t>
            </a:r>
            <a:r>
              <a:rPr lang="en-US" dirty="0"/>
              <a:t> a number between </a:t>
            </a:r>
            <a:r>
              <a:rPr lang="en-US" b="1" dirty="0"/>
              <a:t>0 and 1</a:t>
            </a:r>
            <a:r>
              <a:rPr lang="en-US" dirty="0"/>
              <a:t> for each customer</a:t>
            </a:r>
          </a:p>
          <a:p>
            <a:r>
              <a:rPr lang="en-US" b="1" dirty="0"/>
              <a:t>Our understanding: </a:t>
            </a:r>
          </a:p>
          <a:p>
            <a:r>
              <a:rPr lang="en-US" dirty="0"/>
              <a:t>How likely this customer is to churn</a:t>
            </a:r>
          </a:p>
        </p:txBody>
      </p:sp>
      <p:sp>
        <p:nvSpPr>
          <p:cNvPr id="16" name="TextBox 15">
            <a:extLst>
              <a:ext uri="{FF2B5EF4-FFF2-40B4-BE49-F238E27FC236}">
                <a16:creationId xmlns:a16="http://schemas.microsoft.com/office/drawing/2014/main" id="{3E260C8A-4E72-B95F-331A-23669E1CBFBD}"/>
              </a:ext>
            </a:extLst>
          </p:cNvPr>
          <p:cNvSpPr txBox="1"/>
          <p:nvPr/>
        </p:nvSpPr>
        <p:spPr>
          <a:xfrm>
            <a:off x="6630955" y="1412568"/>
            <a:ext cx="4503576" cy="461665"/>
          </a:xfrm>
          <a:prstGeom prst="rect">
            <a:avLst/>
          </a:prstGeom>
          <a:noFill/>
        </p:spPr>
        <p:txBody>
          <a:bodyPr wrap="square" rtlCol="0">
            <a:spAutoFit/>
          </a:bodyPr>
          <a:lstStyle/>
          <a:p>
            <a:r>
              <a:rPr lang="en-US" sz="2400" b="1" dirty="0"/>
              <a:t>Model outputs</a:t>
            </a:r>
          </a:p>
        </p:txBody>
      </p:sp>
      <p:sp>
        <p:nvSpPr>
          <p:cNvPr id="17" name="Rectangle: Rounded Corners 16">
            <a:extLst>
              <a:ext uri="{FF2B5EF4-FFF2-40B4-BE49-F238E27FC236}">
                <a16:creationId xmlns:a16="http://schemas.microsoft.com/office/drawing/2014/main" id="{99D34A4D-158C-A2FC-072C-66AF1FF8222C}"/>
              </a:ext>
            </a:extLst>
          </p:cNvPr>
          <p:cNvSpPr/>
          <p:nvPr/>
        </p:nvSpPr>
        <p:spPr>
          <a:xfrm>
            <a:off x="6357257" y="4404049"/>
            <a:ext cx="4578221" cy="104138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5C97B09-A880-18D3-2394-435FF64B8192}"/>
              </a:ext>
            </a:extLst>
          </p:cNvPr>
          <p:cNvSpPr txBox="1"/>
          <p:nvPr/>
        </p:nvSpPr>
        <p:spPr>
          <a:xfrm>
            <a:off x="6767804" y="4690188"/>
            <a:ext cx="4167674" cy="307777"/>
          </a:xfrm>
          <a:prstGeom prst="rect">
            <a:avLst/>
          </a:prstGeom>
          <a:noFill/>
        </p:spPr>
        <p:txBody>
          <a:bodyPr wrap="square" rtlCol="0">
            <a:spAutoFit/>
          </a:bodyPr>
          <a:lstStyle/>
          <a:p>
            <a:r>
              <a:rPr lang="en-US" sz="14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proba</a:t>
            </a:r>
            <a:r>
              <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rPr>
              <a:t> = </a:t>
            </a:r>
            <a:r>
              <a:rPr lang="en-US" sz="1400" dirty="0" err="1">
                <a:latin typeface="Cascadia Code SemiBold" panose="020B0609020000020004" pitchFamily="49" charset="0"/>
                <a:ea typeface="Cascadia Code SemiBold" panose="020B0609020000020004" pitchFamily="49" charset="0"/>
                <a:cs typeface="Cascadia Code SemiBold" panose="020B0609020000020004" pitchFamily="49" charset="0"/>
              </a:rPr>
              <a:t>model.predict_proba</a:t>
            </a:r>
            <a:r>
              <a:rPr lang="en-US" sz="1400" dirty="0">
                <a:latin typeface="Cascadia Code SemiBold" panose="020B0609020000020004" pitchFamily="49" charset="0"/>
                <a:ea typeface="Cascadia Code SemiBold" panose="020B0609020000020004" pitchFamily="49" charset="0"/>
                <a:cs typeface="Cascadia Code SemiBold" panose="020B0609020000020004" pitchFamily="49" charset="0"/>
              </a:rPr>
              <a:t>(X)[:, 1]</a:t>
            </a:r>
          </a:p>
        </p:txBody>
      </p:sp>
      <p:sp>
        <p:nvSpPr>
          <p:cNvPr id="19" name="TextBox 18">
            <a:extLst>
              <a:ext uri="{FF2B5EF4-FFF2-40B4-BE49-F238E27FC236}">
                <a16:creationId xmlns:a16="http://schemas.microsoft.com/office/drawing/2014/main" id="{EC40AF51-BF27-98FC-6245-1A6D75D30392}"/>
              </a:ext>
            </a:extLst>
          </p:cNvPr>
          <p:cNvSpPr txBox="1"/>
          <p:nvPr/>
        </p:nvSpPr>
        <p:spPr>
          <a:xfrm>
            <a:off x="957943" y="3788229"/>
            <a:ext cx="4578221" cy="1200329"/>
          </a:xfrm>
          <a:prstGeom prst="rect">
            <a:avLst/>
          </a:prstGeom>
          <a:noFill/>
        </p:spPr>
        <p:txBody>
          <a:bodyPr wrap="square" rtlCol="0">
            <a:spAutoFit/>
          </a:bodyPr>
          <a:lstStyle/>
          <a:p>
            <a:r>
              <a:rPr lang="en-US" dirty="0"/>
              <a:t>We use the scores to </a:t>
            </a:r>
            <a:r>
              <a:rPr lang="en-US" b="1" dirty="0"/>
              <a:t>rank customers and target the Top 10% or 20% for retention outreach </a:t>
            </a:r>
            <a:r>
              <a:rPr lang="en-US" dirty="0"/>
              <a:t>(apply a threshold only when we need a hard yes/no decision).</a:t>
            </a:r>
          </a:p>
        </p:txBody>
      </p:sp>
    </p:spTree>
    <p:extLst>
      <p:ext uri="{BB962C8B-B14F-4D97-AF65-F5344CB8AC3E}">
        <p14:creationId xmlns:p14="http://schemas.microsoft.com/office/powerpoint/2010/main" val="1301555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E1A606C6-6E1E-8433-B463-969B9DD72F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BAA30C-59C9-16C3-159B-57AF9C30D0FB}"/>
              </a:ext>
            </a:extLst>
          </p:cNvPr>
          <p:cNvSpPr/>
          <p:nvPr/>
        </p:nvSpPr>
        <p:spPr>
          <a:xfrm>
            <a:off x="548640" y="338328"/>
            <a:ext cx="11288175" cy="548640"/>
          </a:xfrm>
          <a:prstGeom prst="rect">
            <a:avLst/>
          </a:prstGeom>
          <a:noFill/>
          <a:ln/>
        </p:spPr>
        <p:txBody>
          <a:bodyPr wrap="square" rtlCol="0" anchor="ctr"/>
          <a:lstStyle/>
          <a:p>
            <a:r>
              <a:rPr lang="en-US" sz="3400" b="1" dirty="0">
                <a:solidFill>
                  <a:srgbClr val="1F2937"/>
                </a:solidFill>
                <a:latin typeface="Aptos Display" pitchFamily="34" charset="0"/>
              </a:rPr>
              <a:t>Predicting Customer Churn in Telecom</a:t>
            </a:r>
          </a:p>
        </p:txBody>
      </p:sp>
      <p:sp>
        <p:nvSpPr>
          <p:cNvPr id="3" name="Text 1">
            <a:extLst>
              <a:ext uri="{FF2B5EF4-FFF2-40B4-BE49-F238E27FC236}">
                <a16:creationId xmlns:a16="http://schemas.microsoft.com/office/drawing/2014/main" id="{5369BA55-68B4-9D24-61CD-D04435AA2DBA}"/>
              </a:ext>
            </a:extLst>
          </p:cNvPr>
          <p:cNvSpPr/>
          <p:nvPr/>
        </p:nvSpPr>
        <p:spPr>
          <a:xfrm>
            <a:off x="548640" y="932688"/>
            <a:ext cx="11064240" cy="365760"/>
          </a:xfrm>
          <a:prstGeom prst="rect">
            <a:avLst/>
          </a:prstGeom>
          <a:noFill/>
          <a:ln/>
        </p:spPr>
        <p:txBody>
          <a:bodyPr wrap="square" rtlCol="0" anchor="ctr"/>
          <a:lstStyle/>
          <a:p>
            <a:r>
              <a:rPr lang="en-US" sz="1600" b="1" dirty="0">
                <a:solidFill>
                  <a:srgbClr val="1F2937"/>
                </a:solidFill>
                <a:latin typeface="Aptos Display" pitchFamily="34" charset="0"/>
              </a:rPr>
              <a:t>Predicting Customer Churn in Telecom -&gt; </a:t>
            </a:r>
            <a:r>
              <a:rPr lang="en-US" sz="1600" b="1" dirty="0">
                <a:solidFill>
                  <a:srgbClr val="1F2937"/>
                </a:solidFill>
                <a:latin typeface="Aptos Display" pitchFamily="34" charset="0"/>
                <a:ea typeface="Aptos Display" pitchFamily="34" charset="-122"/>
                <a:cs typeface="Aptos Display" pitchFamily="34" charset="-120"/>
              </a:rPr>
              <a:t>Churn Retention Targeting</a:t>
            </a:r>
            <a:endParaRPr lang="en-US" sz="1600" dirty="0"/>
          </a:p>
        </p:txBody>
      </p:sp>
      <p:sp>
        <p:nvSpPr>
          <p:cNvPr id="12" name="Shape 10">
            <a:extLst>
              <a:ext uri="{FF2B5EF4-FFF2-40B4-BE49-F238E27FC236}">
                <a16:creationId xmlns:a16="http://schemas.microsoft.com/office/drawing/2014/main" id="{6E17BC34-B49B-6148-9EA4-6B8068C03C79}"/>
              </a:ext>
            </a:extLst>
          </p:cNvPr>
          <p:cNvSpPr/>
          <p:nvPr/>
        </p:nvSpPr>
        <p:spPr>
          <a:xfrm>
            <a:off x="548640" y="1869657"/>
            <a:ext cx="11064240" cy="4206240"/>
          </a:xfrm>
          <a:prstGeom prst="roundRect">
            <a:avLst>
              <a:gd name="adj" fmla="val 3653"/>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sz="3200" dirty="0"/>
          </a:p>
        </p:txBody>
      </p:sp>
      <p:sp>
        <p:nvSpPr>
          <p:cNvPr id="13" name="Text 11">
            <a:extLst>
              <a:ext uri="{FF2B5EF4-FFF2-40B4-BE49-F238E27FC236}">
                <a16:creationId xmlns:a16="http://schemas.microsoft.com/office/drawing/2014/main" id="{0F61D961-152C-CAEB-4443-37CE15984926}"/>
              </a:ext>
            </a:extLst>
          </p:cNvPr>
          <p:cNvSpPr/>
          <p:nvPr/>
        </p:nvSpPr>
        <p:spPr>
          <a:xfrm>
            <a:off x="694250" y="2034072"/>
            <a:ext cx="10515600" cy="274320"/>
          </a:xfrm>
          <a:prstGeom prst="rect">
            <a:avLst/>
          </a:prstGeom>
          <a:noFill/>
          <a:ln/>
        </p:spPr>
        <p:txBody>
          <a:bodyPr wrap="square" rtlCol="0" anchor="ctr"/>
          <a:lstStyle/>
          <a:p>
            <a:pPr marL="0" indent="0">
              <a:buNone/>
            </a:pPr>
            <a:r>
              <a:rPr lang="en-US" sz="2400" b="1" dirty="0">
                <a:solidFill>
                  <a:srgbClr val="111827"/>
                </a:solidFill>
                <a:latin typeface="Aptos Display" pitchFamily="34" charset="0"/>
                <a:ea typeface="Aptos Display" pitchFamily="34" charset="-122"/>
                <a:cs typeface="Aptos Display" pitchFamily="34" charset="-120"/>
              </a:rPr>
              <a:t>Methodology</a:t>
            </a:r>
            <a:endParaRPr lang="en-US" sz="2400" dirty="0"/>
          </a:p>
        </p:txBody>
      </p:sp>
      <p:sp>
        <p:nvSpPr>
          <p:cNvPr id="15" name="Shape 3">
            <a:extLst>
              <a:ext uri="{FF2B5EF4-FFF2-40B4-BE49-F238E27FC236}">
                <a16:creationId xmlns:a16="http://schemas.microsoft.com/office/drawing/2014/main" id="{CF8A58B3-C97A-D027-CE12-B3BFA7ACEEB4}"/>
              </a:ext>
            </a:extLst>
          </p:cNvPr>
          <p:cNvSpPr/>
          <p:nvPr/>
        </p:nvSpPr>
        <p:spPr>
          <a:xfrm>
            <a:off x="665701" y="2629998"/>
            <a:ext cx="3281701" cy="2032414"/>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dirty="0"/>
          </a:p>
        </p:txBody>
      </p:sp>
      <p:sp>
        <p:nvSpPr>
          <p:cNvPr id="16" name="Text 4">
            <a:extLst>
              <a:ext uri="{FF2B5EF4-FFF2-40B4-BE49-F238E27FC236}">
                <a16:creationId xmlns:a16="http://schemas.microsoft.com/office/drawing/2014/main" id="{112E1864-9493-9CC6-E624-1F9ED746EAAC}"/>
              </a:ext>
            </a:extLst>
          </p:cNvPr>
          <p:cNvSpPr/>
          <p:nvPr/>
        </p:nvSpPr>
        <p:spPr>
          <a:xfrm>
            <a:off x="916152" y="2903658"/>
            <a:ext cx="2926080" cy="274320"/>
          </a:xfrm>
          <a:prstGeom prst="rect">
            <a:avLst/>
          </a:prstGeom>
          <a:noFill/>
          <a:ln/>
        </p:spPr>
        <p:txBody>
          <a:bodyPr wrap="square"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Dataset</a:t>
            </a:r>
            <a:endParaRPr lang="en-US" sz="1400" dirty="0"/>
          </a:p>
        </p:txBody>
      </p:sp>
      <p:sp>
        <p:nvSpPr>
          <p:cNvPr id="17" name="Text 5">
            <a:extLst>
              <a:ext uri="{FF2B5EF4-FFF2-40B4-BE49-F238E27FC236}">
                <a16:creationId xmlns:a16="http://schemas.microsoft.com/office/drawing/2014/main" id="{ECDAA98C-BADE-22E8-298F-8620215B10C4}"/>
              </a:ext>
            </a:extLst>
          </p:cNvPr>
          <p:cNvSpPr/>
          <p:nvPr/>
        </p:nvSpPr>
        <p:spPr>
          <a:xfrm>
            <a:off x="816014" y="3429000"/>
            <a:ext cx="2926080" cy="1283892"/>
          </a:xfrm>
          <a:prstGeom prst="rect">
            <a:avLst/>
          </a:prstGeom>
          <a:noFill/>
          <a:ln/>
        </p:spPr>
        <p:txBody>
          <a:bodyPr wrap="square" rtlCol="0" anchor="t"/>
          <a:lstStyle/>
          <a:p>
            <a:pPr marL="0" indent="0">
              <a:buNone/>
            </a:pPr>
            <a:r>
              <a:rPr lang="en-US" sz="1200" dirty="0">
                <a:solidFill>
                  <a:srgbClr val="111827"/>
                </a:solidFill>
                <a:latin typeface="Calibri" pitchFamily="34" charset="0"/>
                <a:ea typeface="Calibri" pitchFamily="34" charset="-122"/>
                <a:cs typeface="Calibri" pitchFamily="34" charset="-120"/>
              </a:rPr>
              <a:t>data/processed/</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telco_churn_processed.csv</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(or uploaded CSV)</a:t>
            </a:r>
          </a:p>
          <a:p>
            <a:pPr marL="0" indent="0">
              <a:buNone/>
            </a:pPr>
            <a:r>
              <a:rPr lang="en-US" sz="1200" dirty="0">
                <a:solidFill>
                  <a:srgbClr val="111827"/>
                </a:solidFill>
                <a:latin typeface="Calibri" pitchFamily="34" charset="0"/>
                <a:ea typeface="Calibri" pitchFamily="34" charset="-122"/>
                <a:cs typeface="Calibri" pitchFamily="34" charset="-120"/>
              </a:rPr>
              <a:t>Telco dataset from Kaggle (7k rows, 21 features: tenure, monthly charges, services).</a:t>
            </a:r>
          </a:p>
          <a:p>
            <a:pPr marL="0" indent="0">
              <a:buNone/>
            </a:pPr>
            <a:endParaRPr lang="en-US" sz="1200" dirty="0">
              <a:solidFill>
                <a:srgbClr val="111827"/>
              </a:solidFill>
              <a:latin typeface="Calibri" pitchFamily="34" charset="0"/>
              <a:ea typeface="Calibri" pitchFamily="34" charset="-122"/>
              <a:cs typeface="Calibri" pitchFamily="34" charset="-120"/>
            </a:endParaRPr>
          </a:p>
          <a:p>
            <a:pPr marL="0" indent="0">
              <a:buNone/>
            </a:pPr>
            <a:endParaRPr lang="en-US" sz="1200" dirty="0">
              <a:solidFill>
                <a:srgbClr val="111827"/>
              </a:solidFill>
              <a:latin typeface="Calibri" pitchFamily="34" charset="0"/>
              <a:ea typeface="Calibri" pitchFamily="34" charset="-122"/>
              <a:cs typeface="Calibri" pitchFamily="34" charset="-120"/>
            </a:endParaRPr>
          </a:p>
          <a:p>
            <a:pPr marL="0" indent="0">
              <a:buNone/>
            </a:pPr>
            <a:endParaRPr lang="en-US" sz="1200" dirty="0">
              <a:solidFill>
                <a:srgbClr val="111827"/>
              </a:solidFill>
              <a:latin typeface="Calibri" pitchFamily="34" charset="0"/>
              <a:ea typeface="Calibri" pitchFamily="34" charset="-122"/>
              <a:cs typeface="Calibri" pitchFamily="34" charset="-120"/>
            </a:endParaRPr>
          </a:p>
          <a:p>
            <a:pPr marL="0" indent="0">
              <a:buNone/>
            </a:pPr>
            <a:endParaRPr lang="en-US" sz="1200" dirty="0"/>
          </a:p>
        </p:txBody>
      </p:sp>
      <p:sp>
        <p:nvSpPr>
          <p:cNvPr id="18" name="Shape 6">
            <a:extLst>
              <a:ext uri="{FF2B5EF4-FFF2-40B4-BE49-F238E27FC236}">
                <a16:creationId xmlns:a16="http://schemas.microsoft.com/office/drawing/2014/main" id="{0D9DD63E-9F89-7E33-303C-711EE6E6BF0F}"/>
              </a:ext>
            </a:extLst>
          </p:cNvPr>
          <p:cNvSpPr/>
          <p:nvPr/>
        </p:nvSpPr>
        <p:spPr>
          <a:xfrm>
            <a:off x="4673050" y="3333653"/>
            <a:ext cx="3154680" cy="1813285"/>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a:p>
        </p:txBody>
      </p:sp>
      <p:sp>
        <p:nvSpPr>
          <p:cNvPr id="19" name="Text 7">
            <a:extLst>
              <a:ext uri="{FF2B5EF4-FFF2-40B4-BE49-F238E27FC236}">
                <a16:creationId xmlns:a16="http://schemas.microsoft.com/office/drawing/2014/main" id="{291B1B98-F26E-A015-3E65-143433ED27D7}"/>
              </a:ext>
            </a:extLst>
          </p:cNvPr>
          <p:cNvSpPr/>
          <p:nvPr/>
        </p:nvSpPr>
        <p:spPr>
          <a:xfrm>
            <a:off x="4915776" y="3429000"/>
            <a:ext cx="2926080" cy="274320"/>
          </a:xfrm>
          <a:prstGeom prst="rect">
            <a:avLst/>
          </a:prstGeom>
          <a:noFill/>
          <a:ln/>
        </p:spPr>
        <p:txBody>
          <a:bodyPr wrap="square"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Model</a:t>
            </a:r>
            <a:endParaRPr lang="en-US" sz="1400" dirty="0"/>
          </a:p>
        </p:txBody>
      </p:sp>
      <p:sp>
        <p:nvSpPr>
          <p:cNvPr id="20" name="Text 8">
            <a:extLst>
              <a:ext uri="{FF2B5EF4-FFF2-40B4-BE49-F238E27FC236}">
                <a16:creationId xmlns:a16="http://schemas.microsoft.com/office/drawing/2014/main" id="{449FE487-3A4A-1C87-FAC2-455691B116C5}"/>
              </a:ext>
            </a:extLst>
          </p:cNvPr>
          <p:cNvSpPr/>
          <p:nvPr/>
        </p:nvSpPr>
        <p:spPr>
          <a:xfrm>
            <a:off x="4894268" y="3814526"/>
            <a:ext cx="2926080" cy="1135224"/>
          </a:xfrm>
          <a:prstGeom prst="rect">
            <a:avLst/>
          </a:prstGeom>
          <a:noFill/>
          <a:ln/>
        </p:spPr>
        <p:txBody>
          <a:bodyPr wrap="square" rtlCol="0" anchor="t"/>
          <a:lstStyle/>
          <a:p>
            <a:pPr marL="0" indent="0">
              <a:buNone/>
            </a:pPr>
            <a:r>
              <a:rPr lang="en-US" sz="1200" dirty="0">
                <a:solidFill>
                  <a:srgbClr val="111827"/>
                </a:solidFill>
                <a:latin typeface="Calibri" pitchFamily="34" charset="0"/>
                <a:ea typeface="Calibri" pitchFamily="34" charset="-122"/>
                <a:cs typeface="Calibri" pitchFamily="34" charset="-120"/>
              </a:rPr>
              <a:t>joblib load</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logistic_regression.pkl</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hist_gradient_boosting.pkl</a:t>
            </a:r>
            <a:endParaRPr lang="en-US" sz="1200" dirty="0"/>
          </a:p>
        </p:txBody>
      </p:sp>
      <p:sp>
        <p:nvSpPr>
          <p:cNvPr id="21" name="Shape 9">
            <a:extLst>
              <a:ext uri="{FF2B5EF4-FFF2-40B4-BE49-F238E27FC236}">
                <a16:creationId xmlns:a16="http://schemas.microsoft.com/office/drawing/2014/main" id="{9EDE7B94-AFC3-A74A-E257-F48D53B5CD6F}"/>
              </a:ext>
            </a:extLst>
          </p:cNvPr>
          <p:cNvSpPr/>
          <p:nvPr/>
        </p:nvSpPr>
        <p:spPr>
          <a:xfrm>
            <a:off x="8553378" y="4171716"/>
            <a:ext cx="2926080" cy="1706292"/>
          </a:xfrm>
          <a:prstGeom prst="roundRect">
            <a:avLst/>
          </a:prstGeom>
          <a:solidFill>
            <a:srgbClr val="FFFFFF"/>
          </a:solidFill>
          <a:ln w="12700">
            <a:solidFill>
              <a:srgbClr val="0F766E"/>
            </a:solidFill>
            <a:prstDash val="solid"/>
          </a:ln>
          <a:effectLst>
            <a:outerShdw blurRad="38100" dist="19050" dir="2700000" algn="bl" rotWithShape="0">
              <a:srgbClr val="000000">
                <a:alpha val="18000"/>
              </a:srgbClr>
            </a:outerShdw>
          </a:effectLst>
        </p:spPr>
        <p:txBody>
          <a:bodyPr/>
          <a:lstStyle/>
          <a:p>
            <a:endParaRPr lang="en-US"/>
          </a:p>
        </p:txBody>
      </p:sp>
      <p:sp>
        <p:nvSpPr>
          <p:cNvPr id="22" name="Text 10">
            <a:extLst>
              <a:ext uri="{FF2B5EF4-FFF2-40B4-BE49-F238E27FC236}">
                <a16:creationId xmlns:a16="http://schemas.microsoft.com/office/drawing/2014/main" id="{976ABEA2-C1EB-DD73-B331-16E83627EDBD}"/>
              </a:ext>
            </a:extLst>
          </p:cNvPr>
          <p:cNvSpPr/>
          <p:nvPr/>
        </p:nvSpPr>
        <p:spPr>
          <a:xfrm>
            <a:off x="8695714" y="4502392"/>
            <a:ext cx="2917166" cy="210500"/>
          </a:xfrm>
          <a:prstGeom prst="rect">
            <a:avLst/>
          </a:prstGeom>
          <a:noFill/>
          <a:ln/>
        </p:spPr>
        <p:txBody>
          <a:bodyPr wrap="square" rtlCol="0" anchor="ctr"/>
          <a:lstStyle/>
          <a:p>
            <a:pPr marL="0" indent="0">
              <a:buNone/>
            </a:pPr>
            <a:r>
              <a:rPr lang="en-US" sz="1400" b="1" dirty="0">
                <a:solidFill>
                  <a:srgbClr val="0F766E"/>
                </a:solidFill>
                <a:latin typeface="Calibri" pitchFamily="34" charset="0"/>
                <a:ea typeface="Calibri" pitchFamily="34" charset="-122"/>
                <a:cs typeface="Calibri" pitchFamily="34" charset="-120"/>
              </a:rPr>
              <a:t>Streamlit app</a:t>
            </a:r>
            <a:endParaRPr lang="en-US" sz="1400" dirty="0"/>
          </a:p>
        </p:txBody>
      </p:sp>
      <p:sp>
        <p:nvSpPr>
          <p:cNvPr id="23" name="Text 11">
            <a:extLst>
              <a:ext uri="{FF2B5EF4-FFF2-40B4-BE49-F238E27FC236}">
                <a16:creationId xmlns:a16="http://schemas.microsoft.com/office/drawing/2014/main" id="{C60EBABC-B460-7C99-E8D3-963BD72F513A}"/>
              </a:ext>
            </a:extLst>
          </p:cNvPr>
          <p:cNvSpPr/>
          <p:nvPr/>
        </p:nvSpPr>
        <p:spPr>
          <a:xfrm>
            <a:off x="9098280" y="4893246"/>
            <a:ext cx="2514600" cy="1135224"/>
          </a:xfrm>
          <a:prstGeom prst="rect">
            <a:avLst/>
          </a:prstGeom>
          <a:noFill/>
          <a:ln/>
        </p:spPr>
        <p:txBody>
          <a:bodyPr wrap="square" rtlCol="0" anchor="t"/>
          <a:lstStyle/>
          <a:p>
            <a:pPr marL="0" indent="0">
              <a:buNone/>
            </a:pPr>
            <a:r>
              <a:rPr lang="en-US" sz="1200" dirty="0">
                <a:solidFill>
                  <a:srgbClr val="111827"/>
                </a:solidFill>
                <a:latin typeface="Calibri" pitchFamily="34" charset="0"/>
                <a:ea typeface="Calibri" pitchFamily="34" charset="-122"/>
                <a:cs typeface="Calibri" pitchFamily="34" charset="-120"/>
              </a:rPr>
              <a:t>Align schema → score</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Compute Lift@k</a:t>
            </a:r>
            <a:endParaRPr lang="en-US" sz="1200" dirty="0"/>
          </a:p>
          <a:p>
            <a:pPr marL="0" indent="0">
              <a:buNone/>
            </a:pPr>
            <a:r>
              <a:rPr lang="en-US" sz="1200" dirty="0">
                <a:solidFill>
                  <a:srgbClr val="111827"/>
                </a:solidFill>
                <a:latin typeface="Calibri" pitchFamily="34" charset="0"/>
                <a:ea typeface="Calibri" pitchFamily="34" charset="-122"/>
                <a:cs typeface="Calibri" pitchFamily="34" charset="-120"/>
              </a:rPr>
              <a:t> Export targeting list</a:t>
            </a:r>
            <a:endParaRPr lang="en-US" sz="1200" dirty="0"/>
          </a:p>
        </p:txBody>
      </p:sp>
      <p:sp>
        <p:nvSpPr>
          <p:cNvPr id="24" name="Shape 12">
            <a:extLst>
              <a:ext uri="{FF2B5EF4-FFF2-40B4-BE49-F238E27FC236}">
                <a16:creationId xmlns:a16="http://schemas.microsoft.com/office/drawing/2014/main" id="{76CD4882-C48A-C723-993D-1ADBFA4BAD07}"/>
              </a:ext>
            </a:extLst>
          </p:cNvPr>
          <p:cNvSpPr/>
          <p:nvPr/>
        </p:nvSpPr>
        <p:spPr>
          <a:xfrm>
            <a:off x="4210674" y="4080276"/>
            <a:ext cx="320040" cy="320040"/>
          </a:xfrm>
          <a:prstGeom prst="rightArrow">
            <a:avLst/>
          </a:prstGeom>
          <a:solidFill>
            <a:srgbClr val="1D4ED8"/>
          </a:solidFill>
          <a:ln w="12700">
            <a:solidFill>
              <a:srgbClr val="1D4ED8"/>
            </a:solidFill>
            <a:prstDash val="solid"/>
          </a:ln>
        </p:spPr>
        <p:txBody>
          <a:bodyPr/>
          <a:lstStyle/>
          <a:p>
            <a:endParaRPr lang="en-US"/>
          </a:p>
        </p:txBody>
      </p:sp>
      <p:sp>
        <p:nvSpPr>
          <p:cNvPr id="25" name="Shape 13">
            <a:extLst>
              <a:ext uri="{FF2B5EF4-FFF2-40B4-BE49-F238E27FC236}">
                <a16:creationId xmlns:a16="http://schemas.microsoft.com/office/drawing/2014/main" id="{377ADD4B-5D25-084D-6226-905B647E8A8C}"/>
              </a:ext>
            </a:extLst>
          </p:cNvPr>
          <p:cNvSpPr/>
          <p:nvPr/>
        </p:nvSpPr>
        <p:spPr>
          <a:xfrm>
            <a:off x="8037597" y="4342372"/>
            <a:ext cx="320040" cy="320040"/>
          </a:xfrm>
          <a:prstGeom prst="rightArrow">
            <a:avLst/>
          </a:prstGeom>
          <a:solidFill>
            <a:srgbClr val="1D4ED8"/>
          </a:solidFill>
          <a:ln w="12700">
            <a:solidFill>
              <a:srgbClr val="1D4ED8"/>
            </a:solidFill>
            <a:prstDash val="solid"/>
          </a:ln>
        </p:spPr>
        <p:txBody>
          <a:bodyPr/>
          <a:lstStyle/>
          <a:p>
            <a:endParaRPr lang="en-US"/>
          </a:p>
        </p:txBody>
      </p:sp>
    </p:spTree>
    <p:extLst>
      <p:ext uri="{BB962C8B-B14F-4D97-AF65-F5344CB8AC3E}">
        <p14:creationId xmlns:p14="http://schemas.microsoft.com/office/powerpoint/2010/main" val="46948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3272862" cy="365760"/>
          </a:xfrm>
          <a:prstGeom prst="rect">
            <a:avLst/>
          </a:prstGeom>
          <a:noFill/>
          <a:ln/>
        </p:spPr>
        <p:txBody>
          <a:bodyPr wrap="square"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1) </a:t>
            </a:r>
            <a:r>
              <a:rPr lang="en-US" sz="1400" b="1" dirty="0">
                <a:solidFill>
                  <a:srgbClr val="1F2937"/>
                </a:solidFill>
                <a:latin typeface="Aptos Display" pitchFamily="34" charset="0"/>
                <a:ea typeface="Aptos Display" pitchFamily="34" charset="-122"/>
                <a:cs typeface="Aptos Display" pitchFamily="34" charset="-120"/>
              </a:rPr>
              <a:t>Feature engineering</a:t>
            </a:r>
            <a:endParaRPr lang="en-US" sz="3400" dirty="0"/>
          </a:p>
        </p:txBody>
      </p:sp>
      <p:sp>
        <p:nvSpPr>
          <p:cNvPr id="3" name="Text 1"/>
          <p:cNvSpPr/>
          <p:nvPr/>
        </p:nvSpPr>
        <p:spPr>
          <a:xfrm>
            <a:off x="276045" y="810682"/>
            <a:ext cx="3252159" cy="344808"/>
          </a:xfrm>
          <a:prstGeom prst="rect">
            <a:avLst/>
          </a:prstGeom>
          <a:noFill/>
          <a:ln/>
        </p:spPr>
        <p:txBody>
          <a:bodyPr wrap="square" rtlCol="0" anchor="ctr"/>
          <a:lstStyle/>
          <a:p>
            <a:pPr marL="0" indent="0">
              <a:buNone/>
            </a:pPr>
            <a:r>
              <a:rPr lang="en-US" sz="1100" b="1" i="1" dirty="0">
                <a:solidFill>
                  <a:schemeClr val="bg1">
                    <a:lumMod val="65000"/>
                  </a:schemeClr>
                </a:solidFill>
                <a:latin typeface="Aptos" pitchFamily="34" charset="0"/>
                <a:ea typeface="Aptos" pitchFamily="34" charset="-122"/>
                <a:cs typeface="Aptos" pitchFamily="34" charset="-120"/>
              </a:rPr>
              <a:t>Goal: give the model clean, consistent inputs without leaking the answer</a:t>
            </a:r>
            <a:endParaRPr lang="en-US" sz="1100" b="1" i="1" dirty="0">
              <a:solidFill>
                <a:schemeClr val="bg1">
                  <a:lumMod val="65000"/>
                </a:schemeClr>
              </a:solidFill>
            </a:endParaRPr>
          </a:p>
        </p:txBody>
      </p:sp>
      <p:sp>
        <p:nvSpPr>
          <p:cNvPr id="4" name="Shape 2"/>
          <p:cNvSpPr/>
          <p:nvPr/>
        </p:nvSpPr>
        <p:spPr>
          <a:xfrm>
            <a:off x="244184" y="1155490"/>
            <a:ext cx="3568315" cy="5468780"/>
          </a:xfrm>
          <a:prstGeom prst="roundRect">
            <a:avLst>
              <a:gd name="adj" fmla="val 6129"/>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p:cNvSpPr/>
          <p:nvPr/>
        </p:nvSpPr>
        <p:spPr>
          <a:xfrm>
            <a:off x="478118" y="1350285"/>
            <a:ext cx="2848011" cy="259253"/>
          </a:xfrm>
          <a:prstGeom prst="rect">
            <a:avLst/>
          </a:prstGeom>
          <a:noFill/>
          <a:ln/>
        </p:spPr>
        <p:txBody>
          <a:bodyPr wrap="square"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Data quality &amp; outliers</a:t>
            </a:r>
            <a:endParaRPr lang="en-US" sz="2000" dirty="0"/>
          </a:p>
        </p:txBody>
      </p:sp>
      <p:sp>
        <p:nvSpPr>
          <p:cNvPr id="6" name="Text 4"/>
          <p:cNvSpPr/>
          <p:nvPr/>
        </p:nvSpPr>
        <p:spPr>
          <a:xfrm>
            <a:off x="329961" y="1936273"/>
            <a:ext cx="3491541" cy="857811"/>
          </a:xfrm>
          <a:prstGeom prst="rect">
            <a:avLst/>
          </a:prstGeom>
          <a:noFill/>
          <a:ln/>
        </p:spPr>
        <p:txBody>
          <a:bodyPr wrap="square" rtlCol="0" anchor="t"/>
          <a:lstStyle/>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Convert TotalCharges to numeric and handle blanks → avoid NaNs during training.</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Use robust ratios (e.g., charges_ratio = TotalCharges / (tenure + 1)) to avoid divide-by-zero related errors.</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One-hot encode categories; missing dummy columns are treated as 0 at scoring time.</a:t>
            </a:r>
            <a:endParaRPr lang="en-US" sz="1100" dirty="0"/>
          </a:p>
        </p:txBody>
      </p:sp>
      <p:sp>
        <p:nvSpPr>
          <p:cNvPr id="8" name="Text 6"/>
          <p:cNvSpPr/>
          <p:nvPr/>
        </p:nvSpPr>
        <p:spPr>
          <a:xfrm>
            <a:off x="397058" y="3752095"/>
            <a:ext cx="2352855" cy="274320"/>
          </a:xfrm>
          <a:prstGeom prst="rect">
            <a:avLst/>
          </a:prstGeom>
          <a:noFill/>
          <a:ln/>
        </p:spPr>
        <p:txBody>
          <a:bodyPr wrap="square" rtlCol="0" anchor="ctr"/>
          <a:lstStyle/>
          <a:p>
            <a:pPr marL="0" indent="0">
              <a:buNone/>
            </a:pPr>
            <a:r>
              <a:rPr lang="en-US" sz="2000" b="1" dirty="0">
                <a:solidFill>
                  <a:srgbClr val="111827"/>
                </a:solidFill>
                <a:latin typeface="Aptos Display" pitchFamily="34" charset="0"/>
                <a:ea typeface="Aptos Display" pitchFamily="34" charset="-122"/>
                <a:cs typeface="Aptos Display" pitchFamily="34" charset="-120"/>
              </a:rPr>
              <a:t>Leakage controls</a:t>
            </a:r>
            <a:endParaRPr lang="en-US" sz="2000" dirty="0"/>
          </a:p>
        </p:txBody>
      </p:sp>
      <p:sp>
        <p:nvSpPr>
          <p:cNvPr id="9" name="Text 7"/>
          <p:cNvSpPr/>
          <p:nvPr/>
        </p:nvSpPr>
        <p:spPr>
          <a:xfrm>
            <a:off x="443398" y="4096212"/>
            <a:ext cx="3037792" cy="1805271"/>
          </a:xfrm>
          <a:prstGeom prst="rect">
            <a:avLst/>
          </a:prstGeom>
          <a:noFill/>
          <a:ln/>
        </p:spPr>
        <p:txBody>
          <a:bodyPr wrap="square" rtlCol="0" anchor="t"/>
          <a:lstStyle/>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Never use the churn label (Churn_Yes) as an input feature.</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Quantile-based flags (e.g., “HighSpender”) should be fit on TRAIN only, then applied everywhere.</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Keep the model’s feature list as the contract (feature_names_in_) and align inputs exactly.</a:t>
            </a:r>
            <a:endParaRPr lang="en-US" sz="1100" dirty="0"/>
          </a:p>
        </p:txBody>
      </p:sp>
      <p:sp>
        <p:nvSpPr>
          <p:cNvPr id="15" name="Text 3">
            <a:extLst>
              <a:ext uri="{FF2B5EF4-FFF2-40B4-BE49-F238E27FC236}">
                <a16:creationId xmlns:a16="http://schemas.microsoft.com/office/drawing/2014/main" id="{E038DC91-A715-6E2B-F236-1C7A9A83FFA5}"/>
              </a:ext>
            </a:extLst>
          </p:cNvPr>
          <p:cNvSpPr/>
          <p:nvPr/>
        </p:nvSpPr>
        <p:spPr>
          <a:xfrm>
            <a:off x="4263607" y="1305553"/>
            <a:ext cx="3438489" cy="150876"/>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What we trained</a:t>
            </a:r>
            <a:endParaRPr lang="en-US" sz="1600" dirty="0"/>
          </a:p>
        </p:txBody>
      </p:sp>
      <p:sp>
        <p:nvSpPr>
          <p:cNvPr id="16" name="Shape 5">
            <a:extLst>
              <a:ext uri="{FF2B5EF4-FFF2-40B4-BE49-F238E27FC236}">
                <a16:creationId xmlns:a16="http://schemas.microsoft.com/office/drawing/2014/main" id="{B62D0DB5-1E4C-9DC8-D536-B7D64C287095}"/>
              </a:ext>
            </a:extLst>
          </p:cNvPr>
          <p:cNvSpPr/>
          <p:nvPr/>
        </p:nvSpPr>
        <p:spPr>
          <a:xfrm>
            <a:off x="4060884" y="5151661"/>
            <a:ext cx="3479033" cy="1599481"/>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dirty="0"/>
          </a:p>
        </p:txBody>
      </p:sp>
      <p:sp>
        <p:nvSpPr>
          <p:cNvPr id="18" name="Text 7">
            <a:extLst>
              <a:ext uri="{FF2B5EF4-FFF2-40B4-BE49-F238E27FC236}">
                <a16:creationId xmlns:a16="http://schemas.microsoft.com/office/drawing/2014/main" id="{744C1ADF-0BB2-5C56-061A-59AFC751447D}"/>
              </a:ext>
            </a:extLst>
          </p:cNvPr>
          <p:cNvSpPr/>
          <p:nvPr/>
        </p:nvSpPr>
        <p:spPr>
          <a:xfrm>
            <a:off x="4119545" y="5278136"/>
            <a:ext cx="3351902" cy="1387709"/>
          </a:xfrm>
          <a:prstGeom prst="rect">
            <a:avLst/>
          </a:prstGeom>
          <a:noFill/>
          <a:ln/>
        </p:spPr>
        <p:txBody>
          <a:bodyPr wrap="square" rtlCol="0" anchor="t"/>
          <a:lstStyle/>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Use a stratified holdout split so churn/non-churn proportions are preserved.</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Train on train split; report Lift@k on held-out test split.</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Save models to disk for the Streamlit app to load (joblib</a:t>
            </a:r>
            <a:r>
              <a:rPr lang="en-US" sz="1500" dirty="0">
                <a:solidFill>
                  <a:srgbClr val="111827"/>
                </a:solidFill>
                <a:latin typeface="Aptos" pitchFamily="34" charset="0"/>
                <a:ea typeface="Aptos" pitchFamily="34" charset="-122"/>
                <a:cs typeface="Aptos" pitchFamily="34" charset="-120"/>
              </a:rPr>
              <a:t>).</a:t>
            </a:r>
            <a:endParaRPr lang="en-US" sz="1500" dirty="0"/>
          </a:p>
        </p:txBody>
      </p:sp>
      <p:sp>
        <p:nvSpPr>
          <p:cNvPr id="19" name="Text 0">
            <a:extLst>
              <a:ext uri="{FF2B5EF4-FFF2-40B4-BE49-F238E27FC236}">
                <a16:creationId xmlns:a16="http://schemas.microsoft.com/office/drawing/2014/main" id="{749B2EA5-6DA4-0076-3E08-9378BA55BD92}"/>
              </a:ext>
            </a:extLst>
          </p:cNvPr>
          <p:cNvSpPr/>
          <p:nvPr/>
        </p:nvSpPr>
        <p:spPr>
          <a:xfrm>
            <a:off x="4138091" y="280573"/>
            <a:ext cx="4325284" cy="548640"/>
          </a:xfrm>
          <a:prstGeom prst="rect">
            <a:avLst/>
          </a:prstGeom>
          <a:noFill/>
          <a:ln/>
        </p:spPr>
        <p:txBody>
          <a:bodyPr wrap="square" rtlCol="0" anchor="ctr"/>
          <a:lstStyle/>
          <a:p>
            <a:pPr marL="0" indent="0">
              <a:buNone/>
            </a:pPr>
            <a:r>
              <a:rPr lang="en-US" sz="1600" b="1" dirty="0">
                <a:solidFill>
                  <a:srgbClr val="1F2937"/>
                </a:solidFill>
                <a:latin typeface="Aptos Display" pitchFamily="34" charset="0"/>
                <a:ea typeface="Aptos Display" pitchFamily="34" charset="-122"/>
                <a:cs typeface="Aptos Display" pitchFamily="34" charset="-120"/>
              </a:rPr>
              <a:t>2) Model training (simple models, strong ranking)</a:t>
            </a:r>
            <a:endParaRPr lang="en-US" sz="1600" dirty="0"/>
          </a:p>
        </p:txBody>
      </p:sp>
      <p:sp>
        <p:nvSpPr>
          <p:cNvPr id="20" name="Shape 2">
            <a:extLst>
              <a:ext uri="{FF2B5EF4-FFF2-40B4-BE49-F238E27FC236}">
                <a16:creationId xmlns:a16="http://schemas.microsoft.com/office/drawing/2014/main" id="{1E1769CB-C701-DC18-FB97-D4250DBD4ADB}"/>
              </a:ext>
            </a:extLst>
          </p:cNvPr>
          <p:cNvSpPr/>
          <p:nvPr/>
        </p:nvSpPr>
        <p:spPr>
          <a:xfrm>
            <a:off x="4093342" y="1533004"/>
            <a:ext cx="3378104" cy="1452841"/>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Logistic Regression (standard) and Logistic Regression (</a:t>
            </a:r>
            <a:r>
              <a:rPr lang="en-US" sz="1100" dirty="0" err="1">
                <a:solidFill>
                  <a:srgbClr val="111827"/>
                </a:solidFill>
                <a:latin typeface="Aptos" pitchFamily="34" charset="0"/>
                <a:ea typeface="Aptos" pitchFamily="34" charset="-122"/>
                <a:cs typeface="Aptos" pitchFamily="34" charset="-120"/>
              </a:rPr>
              <a:t>class_weight</a:t>
            </a:r>
            <a:r>
              <a:rPr lang="en-US" sz="1100" dirty="0">
                <a:solidFill>
                  <a:srgbClr val="111827"/>
                </a:solidFill>
                <a:latin typeface="Aptos" pitchFamily="34" charset="0"/>
                <a:ea typeface="Aptos" pitchFamily="34" charset="-122"/>
                <a:cs typeface="Aptos" pitchFamily="34" charset="-120"/>
              </a:rPr>
              <a:t>=balanced).</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Random Forest (standard) and Random Forest (balanced).</a:t>
            </a:r>
            <a:endParaRPr lang="en-US" sz="1100" dirty="0"/>
          </a:p>
          <a:p>
            <a:pPr marL="228600" indent="-228600">
              <a:lnSpc>
                <a:spcPct val="110000"/>
              </a:lnSpc>
              <a:buSzPct val="100000"/>
              <a:buChar char="•"/>
            </a:pPr>
            <a:r>
              <a:rPr lang="en-US" sz="1100" dirty="0" err="1">
                <a:solidFill>
                  <a:srgbClr val="111827"/>
                </a:solidFill>
                <a:latin typeface="Aptos" pitchFamily="34" charset="0"/>
                <a:ea typeface="Aptos" pitchFamily="34" charset="-122"/>
                <a:cs typeface="Aptos" pitchFamily="34" charset="-120"/>
              </a:rPr>
              <a:t>HistGradientBoosting</a:t>
            </a:r>
            <a:r>
              <a:rPr lang="en-US" sz="1100" dirty="0">
                <a:solidFill>
                  <a:srgbClr val="111827"/>
                </a:solidFill>
                <a:latin typeface="Aptos" pitchFamily="34" charset="0"/>
                <a:ea typeface="Aptos" pitchFamily="34" charset="-122"/>
                <a:cs typeface="Aptos" pitchFamily="34" charset="-120"/>
              </a:rPr>
              <a:t> for non-linear ranking improvements</a:t>
            </a:r>
            <a:r>
              <a:rPr lang="en-US" dirty="0">
                <a:solidFill>
                  <a:srgbClr val="111827"/>
                </a:solidFill>
                <a:latin typeface="Aptos" pitchFamily="34" charset="0"/>
                <a:ea typeface="Aptos" pitchFamily="34" charset="-122"/>
                <a:cs typeface="Aptos" pitchFamily="34" charset="-120"/>
              </a:rPr>
              <a:t>.</a:t>
            </a:r>
            <a:endParaRPr lang="en-US" dirty="0"/>
          </a:p>
        </p:txBody>
      </p:sp>
      <p:sp>
        <p:nvSpPr>
          <p:cNvPr id="21" name="Text 1">
            <a:extLst>
              <a:ext uri="{FF2B5EF4-FFF2-40B4-BE49-F238E27FC236}">
                <a16:creationId xmlns:a16="http://schemas.microsoft.com/office/drawing/2014/main" id="{6EEA8E88-C008-13ED-BCCB-F980505995C1}"/>
              </a:ext>
            </a:extLst>
          </p:cNvPr>
          <p:cNvSpPr/>
          <p:nvPr/>
        </p:nvSpPr>
        <p:spPr>
          <a:xfrm>
            <a:off x="4210554" y="897117"/>
            <a:ext cx="3438488" cy="299948"/>
          </a:xfrm>
          <a:prstGeom prst="rect">
            <a:avLst/>
          </a:prstGeom>
          <a:noFill/>
          <a:ln/>
        </p:spPr>
        <p:txBody>
          <a:bodyPr wrap="square" rtlCol="0" anchor="ctr"/>
          <a:lstStyle/>
          <a:p>
            <a:r>
              <a:rPr lang="en-US" sz="1100" b="1" i="1" dirty="0">
                <a:solidFill>
                  <a:schemeClr val="bg1">
                    <a:lumMod val="65000"/>
                  </a:schemeClr>
                </a:solidFill>
                <a:latin typeface="Aptos" pitchFamily="34" charset="0"/>
              </a:rPr>
              <a:t>Train multiple candidates; keep the process reproducible</a:t>
            </a:r>
          </a:p>
        </p:txBody>
      </p:sp>
      <p:sp>
        <p:nvSpPr>
          <p:cNvPr id="24" name="Shape 5">
            <a:extLst>
              <a:ext uri="{FF2B5EF4-FFF2-40B4-BE49-F238E27FC236}">
                <a16:creationId xmlns:a16="http://schemas.microsoft.com/office/drawing/2014/main" id="{712F9AF8-8E47-7D50-29DA-6CD0DD7A3161}"/>
              </a:ext>
            </a:extLst>
          </p:cNvPr>
          <p:cNvSpPr/>
          <p:nvPr/>
        </p:nvSpPr>
        <p:spPr>
          <a:xfrm>
            <a:off x="8033132" y="1155490"/>
            <a:ext cx="3479033" cy="1921016"/>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pPr>
              <a:lnSpc>
                <a:spcPct val="115000"/>
              </a:lnSpc>
            </a:pPr>
            <a:r>
              <a:rPr lang="en-US" sz="1200" dirty="0">
                <a:solidFill>
                  <a:srgbClr val="111827"/>
                </a:solidFill>
                <a:latin typeface="Calibri" pitchFamily="34" charset="0"/>
                <a:ea typeface="Calibri" pitchFamily="34" charset="-122"/>
                <a:cs typeface="Calibri" pitchFamily="34" charset="-120"/>
              </a:rPr>
              <a:t>• Baseline churn rate: average churn in the evaluation set</a:t>
            </a:r>
            <a:endParaRPr lang="en-US" sz="1200" dirty="0"/>
          </a:p>
          <a:p>
            <a:pPr>
              <a:lnSpc>
                <a:spcPct val="115000"/>
              </a:lnSpc>
            </a:pPr>
            <a:r>
              <a:rPr lang="en-US" sz="1200" dirty="0">
                <a:solidFill>
                  <a:srgbClr val="111827"/>
                </a:solidFill>
                <a:latin typeface="Calibri" pitchFamily="34" charset="0"/>
                <a:ea typeface="Calibri" pitchFamily="34" charset="-122"/>
                <a:cs typeface="Calibri" pitchFamily="34" charset="-120"/>
              </a:rPr>
              <a:t>• </a:t>
            </a:r>
            <a:r>
              <a:rPr lang="en-US" sz="1200" dirty="0" err="1">
                <a:solidFill>
                  <a:srgbClr val="111827"/>
                </a:solidFill>
                <a:latin typeface="Calibri" pitchFamily="34" charset="0"/>
                <a:ea typeface="Calibri" pitchFamily="34" charset="-122"/>
                <a:cs typeface="Calibri" pitchFamily="34" charset="-120"/>
              </a:rPr>
              <a:t>Precision@k</a:t>
            </a:r>
            <a:r>
              <a:rPr lang="en-US" sz="1200" dirty="0">
                <a:solidFill>
                  <a:srgbClr val="111827"/>
                </a:solidFill>
                <a:latin typeface="Calibri" pitchFamily="34" charset="0"/>
                <a:ea typeface="Calibri" pitchFamily="34" charset="-122"/>
                <a:cs typeface="Calibri" pitchFamily="34" charset="-120"/>
              </a:rPr>
              <a:t>: churn rate inside the Top k% targeted list</a:t>
            </a:r>
            <a:endParaRPr lang="en-US" sz="1200" dirty="0"/>
          </a:p>
          <a:p>
            <a:pPr>
              <a:lnSpc>
                <a:spcPct val="115000"/>
              </a:lnSpc>
            </a:pPr>
            <a:r>
              <a:rPr lang="en-US" sz="1200" dirty="0">
                <a:solidFill>
                  <a:srgbClr val="111827"/>
                </a:solidFill>
                <a:latin typeface="Calibri" pitchFamily="34" charset="0"/>
                <a:ea typeface="Calibri" pitchFamily="34" charset="-122"/>
                <a:cs typeface="Calibri" pitchFamily="34" charset="-120"/>
              </a:rPr>
              <a:t>• </a:t>
            </a:r>
            <a:r>
              <a:rPr lang="en-US" sz="1200" dirty="0" err="1">
                <a:solidFill>
                  <a:srgbClr val="111827"/>
                </a:solidFill>
                <a:latin typeface="Calibri" pitchFamily="34" charset="0"/>
                <a:ea typeface="Calibri" pitchFamily="34" charset="-122"/>
                <a:cs typeface="Calibri" pitchFamily="34" charset="-120"/>
              </a:rPr>
              <a:t>Lift@k</a:t>
            </a:r>
            <a:r>
              <a:rPr lang="en-US" sz="1200" dirty="0">
                <a:solidFill>
                  <a:srgbClr val="111827"/>
                </a:solidFill>
                <a:latin typeface="Calibri" pitchFamily="34" charset="0"/>
                <a:ea typeface="Calibri" pitchFamily="34" charset="-122"/>
                <a:cs typeface="Calibri" pitchFamily="34" charset="-120"/>
              </a:rPr>
              <a:t> = </a:t>
            </a:r>
            <a:r>
              <a:rPr lang="en-US" sz="1200" dirty="0" err="1">
                <a:solidFill>
                  <a:srgbClr val="111827"/>
                </a:solidFill>
                <a:latin typeface="Calibri" pitchFamily="34" charset="0"/>
                <a:ea typeface="Calibri" pitchFamily="34" charset="-122"/>
                <a:cs typeface="Calibri" pitchFamily="34" charset="-120"/>
              </a:rPr>
              <a:t>Precision@k</a:t>
            </a:r>
            <a:r>
              <a:rPr lang="en-US" sz="1200" dirty="0">
                <a:solidFill>
                  <a:srgbClr val="111827"/>
                </a:solidFill>
                <a:latin typeface="Calibri" pitchFamily="34" charset="0"/>
                <a:ea typeface="Calibri" pitchFamily="34" charset="-122"/>
                <a:cs typeface="Calibri" pitchFamily="34" charset="-120"/>
              </a:rPr>
              <a:t> ÷ Baseline (how many times better than random)</a:t>
            </a:r>
            <a:endParaRPr lang="en-US" sz="1200" dirty="0"/>
          </a:p>
          <a:p>
            <a:pPr>
              <a:lnSpc>
                <a:spcPct val="115000"/>
              </a:lnSpc>
            </a:pPr>
            <a:r>
              <a:rPr lang="en-US" sz="1200" dirty="0">
                <a:solidFill>
                  <a:srgbClr val="111827"/>
                </a:solidFill>
                <a:latin typeface="Calibri" pitchFamily="34" charset="0"/>
                <a:ea typeface="Calibri" pitchFamily="34" charset="-122"/>
                <a:cs typeface="Calibri" pitchFamily="34" charset="-120"/>
              </a:rPr>
              <a:t>• </a:t>
            </a:r>
            <a:r>
              <a:rPr lang="en-US" sz="1200" dirty="0" err="1">
                <a:solidFill>
                  <a:srgbClr val="111827"/>
                </a:solidFill>
                <a:latin typeface="Calibri" pitchFamily="34" charset="0"/>
                <a:ea typeface="Calibri" pitchFamily="34" charset="-122"/>
                <a:cs typeface="Calibri" pitchFamily="34" charset="-120"/>
              </a:rPr>
              <a:t>Recall@k</a:t>
            </a:r>
            <a:r>
              <a:rPr lang="en-US" sz="1200" dirty="0">
                <a:solidFill>
                  <a:srgbClr val="111827"/>
                </a:solidFill>
                <a:latin typeface="Calibri" pitchFamily="34" charset="0"/>
                <a:ea typeface="Calibri" pitchFamily="34" charset="-122"/>
                <a:cs typeface="Calibri" pitchFamily="34" charset="-120"/>
              </a:rPr>
              <a:t>: % of all churners captured in the Top k% list</a:t>
            </a:r>
            <a:endParaRPr lang="en-US" sz="1200" dirty="0"/>
          </a:p>
        </p:txBody>
      </p:sp>
      <p:sp>
        <p:nvSpPr>
          <p:cNvPr id="25" name="Shape 2">
            <a:extLst>
              <a:ext uri="{FF2B5EF4-FFF2-40B4-BE49-F238E27FC236}">
                <a16:creationId xmlns:a16="http://schemas.microsoft.com/office/drawing/2014/main" id="{9D1E7D7B-7CBB-4176-5240-3C29DAB7524B}"/>
              </a:ext>
            </a:extLst>
          </p:cNvPr>
          <p:cNvSpPr/>
          <p:nvPr/>
        </p:nvSpPr>
        <p:spPr>
          <a:xfrm>
            <a:off x="4125799" y="3296472"/>
            <a:ext cx="3327639" cy="1599481"/>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Use a stratified holdout split so churn/non-churn proportions are preserved.</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Train on train split; report </a:t>
            </a:r>
            <a:r>
              <a:rPr lang="en-US" sz="1100" dirty="0" err="1">
                <a:solidFill>
                  <a:srgbClr val="111827"/>
                </a:solidFill>
                <a:latin typeface="Aptos" pitchFamily="34" charset="0"/>
                <a:ea typeface="Aptos" pitchFamily="34" charset="-122"/>
                <a:cs typeface="Aptos" pitchFamily="34" charset="-120"/>
              </a:rPr>
              <a:t>Lift@k</a:t>
            </a:r>
            <a:r>
              <a:rPr lang="en-US" sz="1100" dirty="0">
                <a:solidFill>
                  <a:srgbClr val="111827"/>
                </a:solidFill>
                <a:latin typeface="Aptos" pitchFamily="34" charset="0"/>
                <a:ea typeface="Aptos" pitchFamily="34" charset="-122"/>
                <a:cs typeface="Aptos" pitchFamily="34" charset="-120"/>
              </a:rPr>
              <a:t> on held-out test split.</a:t>
            </a:r>
            <a:endParaRPr lang="en-US" sz="1100" dirty="0"/>
          </a:p>
          <a:p>
            <a:pPr marL="228600" indent="-228600">
              <a:lnSpc>
                <a:spcPct val="110000"/>
              </a:lnSpc>
              <a:buSzPct val="100000"/>
              <a:buChar char="•"/>
            </a:pPr>
            <a:r>
              <a:rPr lang="en-US" sz="1100" dirty="0">
                <a:solidFill>
                  <a:srgbClr val="111827"/>
                </a:solidFill>
                <a:latin typeface="Aptos" pitchFamily="34" charset="0"/>
                <a:ea typeface="Aptos" pitchFamily="34" charset="-122"/>
                <a:cs typeface="Aptos" pitchFamily="34" charset="-120"/>
              </a:rPr>
              <a:t>Save models to disk for the </a:t>
            </a:r>
            <a:r>
              <a:rPr lang="en-US" sz="1100" dirty="0" err="1">
                <a:solidFill>
                  <a:srgbClr val="111827"/>
                </a:solidFill>
                <a:latin typeface="Aptos" pitchFamily="34" charset="0"/>
                <a:ea typeface="Aptos" pitchFamily="34" charset="-122"/>
                <a:cs typeface="Aptos" pitchFamily="34" charset="-120"/>
              </a:rPr>
              <a:t>Streamlit</a:t>
            </a:r>
            <a:r>
              <a:rPr lang="en-US" sz="1100" dirty="0">
                <a:solidFill>
                  <a:srgbClr val="111827"/>
                </a:solidFill>
                <a:latin typeface="Aptos" pitchFamily="34" charset="0"/>
                <a:ea typeface="Aptos" pitchFamily="34" charset="-122"/>
                <a:cs typeface="Aptos" pitchFamily="34" charset="-120"/>
              </a:rPr>
              <a:t> app to load (</a:t>
            </a:r>
            <a:r>
              <a:rPr lang="en-US" sz="1100" dirty="0" err="1">
                <a:solidFill>
                  <a:srgbClr val="111827"/>
                </a:solidFill>
                <a:latin typeface="Aptos" pitchFamily="34" charset="0"/>
                <a:ea typeface="Aptos" pitchFamily="34" charset="-122"/>
                <a:cs typeface="Aptos" pitchFamily="34" charset="-120"/>
              </a:rPr>
              <a:t>joblib</a:t>
            </a:r>
            <a:r>
              <a:rPr lang="en-US" sz="1100" dirty="0">
                <a:solidFill>
                  <a:srgbClr val="111827"/>
                </a:solidFill>
                <a:latin typeface="Aptos" pitchFamily="34" charset="0"/>
                <a:ea typeface="Aptos" pitchFamily="34" charset="-122"/>
                <a:cs typeface="Aptos" pitchFamily="34" charset="-120"/>
              </a:rPr>
              <a:t>)</a:t>
            </a:r>
            <a:endParaRPr lang="en-US" dirty="0"/>
          </a:p>
        </p:txBody>
      </p:sp>
      <p:sp>
        <p:nvSpPr>
          <p:cNvPr id="26" name="Text 6">
            <a:extLst>
              <a:ext uri="{FF2B5EF4-FFF2-40B4-BE49-F238E27FC236}">
                <a16:creationId xmlns:a16="http://schemas.microsoft.com/office/drawing/2014/main" id="{843B171A-03BC-E2ED-7A42-ADFAA97D7AD6}"/>
              </a:ext>
            </a:extLst>
          </p:cNvPr>
          <p:cNvSpPr/>
          <p:nvPr/>
        </p:nvSpPr>
        <p:spPr>
          <a:xfrm>
            <a:off x="4210554" y="3035053"/>
            <a:ext cx="2763040" cy="212211"/>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How we split</a:t>
            </a:r>
            <a:endParaRPr lang="en-US" sz="1600" dirty="0"/>
          </a:p>
        </p:txBody>
      </p:sp>
      <p:sp>
        <p:nvSpPr>
          <p:cNvPr id="27" name="Text 9">
            <a:extLst>
              <a:ext uri="{FF2B5EF4-FFF2-40B4-BE49-F238E27FC236}">
                <a16:creationId xmlns:a16="http://schemas.microsoft.com/office/drawing/2014/main" id="{51C4BEF9-097B-C3A5-37F6-F1CCF1C9D91E}"/>
              </a:ext>
            </a:extLst>
          </p:cNvPr>
          <p:cNvSpPr/>
          <p:nvPr/>
        </p:nvSpPr>
        <p:spPr>
          <a:xfrm>
            <a:off x="4107898" y="4892297"/>
            <a:ext cx="4385669" cy="306237"/>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Why this matters</a:t>
            </a:r>
            <a:endParaRPr lang="en-US" sz="1600" dirty="0"/>
          </a:p>
        </p:txBody>
      </p:sp>
      <p:sp>
        <p:nvSpPr>
          <p:cNvPr id="29" name="Text 0">
            <a:extLst>
              <a:ext uri="{FF2B5EF4-FFF2-40B4-BE49-F238E27FC236}">
                <a16:creationId xmlns:a16="http://schemas.microsoft.com/office/drawing/2014/main" id="{117051A2-5C19-5143-4FF5-46F0735AA657}"/>
              </a:ext>
            </a:extLst>
          </p:cNvPr>
          <p:cNvSpPr/>
          <p:nvPr/>
        </p:nvSpPr>
        <p:spPr>
          <a:xfrm>
            <a:off x="8127842" y="292031"/>
            <a:ext cx="3404846" cy="365760"/>
          </a:xfrm>
          <a:prstGeom prst="rect">
            <a:avLst/>
          </a:prstGeom>
          <a:noFill/>
          <a:ln/>
        </p:spPr>
        <p:txBody>
          <a:bodyPr wrap="square" rtlCol="0" anchor="ctr"/>
          <a:lstStyle/>
          <a:p>
            <a:r>
              <a:rPr lang="en-US" sz="1200" b="1" dirty="0">
                <a:solidFill>
                  <a:srgbClr val="1F2937"/>
                </a:solidFill>
                <a:latin typeface="Calibri" pitchFamily="34" charset="0"/>
                <a:ea typeface="Calibri" pitchFamily="34" charset="-122"/>
                <a:cs typeface="Calibri" pitchFamily="34" charset="-120"/>
              </a:rPr>
              <a:t>3) Model evaluation: </a:t>
            </a:r>
            <a:r>
              <a:rPr lang="en-US" sz="1200" b="1" dirty="0" err="1">
                <a:solidFill>
                  <a:srgbClr val="1F2937"/>
                </a:solidFill>
                <a:latin typeface="Calibri" pitchFamily="34" charset="0"/>
                <a:ea typeface="Calibri" pitchFamily="34" charset="-122"/>
                <a:cs typeface="Calibri" pitchFamily="34" charset="-120"/>
              </a:rPr>
              <a:t>Lift@k</a:t>
            </a:r>
            <a:r>
              <a:rPr lang="en-US" sz="1200" b="1" dirty="0">
                <a:solidFill>
                  <a:srgbClr val="1F2937"/>
                </a:solidFill>
                <a:latin typeface="Calibri" pitchFamily="34" charset="0"/>
                <a:ea typeface="Calibri" pitchFamily="34" charset="-122"/>
                <a:cs typeface="Calibri" pitchFamily="34" charset="-120"/>
              </a:rPr>
              <a:t> is the targeting KPI</a:t>
            </a:r>
            <a:endParaRPr lang="en-US" sz="1200" dirty="0"/>
          </a:p>
        </p:txBody>
      </p:sp>
      <p:sp>
        <p:nvSpPr>
          <p:cNvPr id="30" name="Text 1">
            <a:extLst>
              <a:ext uri="{FF2B5EF4-FFF2-40B4-BE49-F238E27FC236}">
                <a16:creationId xmlns:a16="http://schemas.microsoft.com/office/drawing/2014/main" id="{1CC27FEC-1EFB-EB5C-912C-D927F9513E63}"/>
              </a:ext>
            </a:extLst>
          </p:cNvPr>
          <p:cNvSpPr/>
          <p:nvPr/>
        </p:nvSpPr>
        <p:spPr>
          <a:xfrm>
            <a:off x="8107319" y="711709"/>
            <a:ext cx="3842279" cy="3657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Lift@k answers: “Is Top 10% / Top 20% targeting better than random selection?”</a:t>
            </a:r>
            <a:endParaRPr lang="en-US" sz="1050" dirty="0"/>
          </a:p>
        </p:txBody>
      </p:sp>
      <p:sp>
        <p:nvSpPr>
          <p:cNvPr id="33" name="Shape 5">
            <a:extLst>
              <a:ext uri="{FF2B5EF4-FFF2-40B4-BE49-F238E27FC236}">
                <a16:creationId xmlns:a16="http://schemas.microsoft.com/office/drawing/2014/main" id="{4B75F3E0-6E04-A20A-EE8F-E2B1297A37DC}"/>
              </a:ext>
            </a:extLst>
          </p:cNvPr>
          <p:cNvSpPr/>
          <p:nvPr/>
        </p:nvSpPr>
        <p:spPr>
          <a:xfrm>
            <a:off x="8033132" y="3268249"/>
            <a:ext cx="3594269" cy="1711554"/>
          </a:xfrm>
          <a:prstGeom prst="roundRect">
            <a:avLst/>
          </a:prstGeom>
          <a:solidFill>
            <a:srgbClr val="F9FAFB"/>
          </a:solidFill>
          <a:ln w="12700">
            <a:solidFill>
              <a:srgbClr val="E5E7EB"/>
            </a:solidFill>
            <a:prstDash val="solid"/>
          </a:ln>
        </p:spPr>
        <p:txBody>
          <a:bodyPr/>
          <a:lstStyle/>
          <a:p>
            <a:r>
              <a:rPr lang="en-US" sz="1200" dirty="0"/>
              <a:t>If baseline = 0.265 and Precision@10% = 0.773,</a:t>
            </a:r>
          </a:p>
          <a:p>
            <a:r>
              <a:rPr lang="en-US" sz="1200" dirty="0"/>
              <a:t>Lift@10% = 0.773 / 0.265 ≈ 2.91×.</a:t>
            </a:r>
          </a:p>
          <a:p>
            <a:endParaRPr lang="en-US" sz="1200" dirty="0"/>
          </a:p>
          <a:p>
            <a:r>
              <a:rPr lang="en-US" sz="1200" dirty="0"/>
              <a:t>Meaning: Top 10% is ~3× more churn-heavy than average</a:t>
            </a:r>
          </a:p>
        </p:txBody>
      </p:sp>
      <p:sp>
        <p:nvSpPr>
          <p:cNvPr id="38" name="Shape 8">
            <a:extLst>
              <a:ext uri="{FF2B5EF4-FFF2-40B4-BE49-F238E27FC236}">
                <a16:creationId xmlns:a16="http://schemas.microsoft.com/office/drawing/2014/main" id="{D6BDBEC6-308C-3C5A-A38C-BCDA907E6A9F}"/>
              </a:ext>
            </a:extLst>
          </p:cNvPr>
          <p:cNvSpPr/>
          <p:nvPr/>
        </p:nvSpPr>
        <p:spPr>
          <a:xfrm>
            <a:off x="8013366" y="5306371"/>
            <a:ext cx="3831205" cy="1359474"/>
          </a:xfrm>
          <a:prstGeom prst="roundRect">
            <a:avLst/>
          </a:prstGeom>
          <a:solidFill>
            <a:srgbClr val="F9FAFB"/>
          </a:solidFill>
          <a:ln w="12700">
            <a:solidFill>
              <a:srgbClr val="E5E7EB"/>
            </a:solidFill>
            <a:prstDash val="solid"/>
          </a:ln>
        </p:spPr>
        <p:txBody>
          <a:bodyPr/>
          <a:lstStyle/>
          <a:p>
            <a:r>
              <a:rPr lang="en-US" sz="1400">
                <a:solidFill>
                  <a:srgbClr val="374151"/>
                </a:solidFill>
                <a:latin typeface="Calibri" pitchFamily="34" charset="0"/>
                <a:ea typeface="Calibri" pitchFamily="34" charset="-122"/>
                <a:cs typeface="Calibri" pitchFamily="34" charset="-120"/>
              </a:rPr>
              <a:t>Lift is highest at very small k (top 1–5%) and decreases as we target more customers.</a:t>
            </a:r>
            <a:endParaRPr lang="en-US" sz="1400"/>
          </a:p>
          <a:p>
            <a:r>
              <a:rPr lang="en-US" sz="1400">
                <a:solidFill>
                  <a:srgbClr val="374151"/>
                </a:solidFill>
                <a:latin typeface="Calibri" pitchFamily="34" charset="0"/>
                <a:ea typeface="Calibri" pitchFamily="34" charset="-122"/>
                <a:cs typeface="Calibri" pitchFamily="34" charset="-120"/>
              </a:rPr>
              <a:t>This is normal because we include more lower-risk customers as k grows.</a:t>
            </a:r>
            <a:endParaRPr lang="en-US" sz="1400" dirty="0"/>
          </a:p>
        </p:txBody>
      </p:sp>
      <p:sp>
        <p:nvSpPr>
          <p:cNvPr id="40" name="TextBox 39">
            <a:extLst>
              <a:ext uri="{FF2B5EF4-FFF2-40B4-BE49-F238E27FC236}">
                <a16:creationId xmlns:a16="http://schemas.microsoft.com/office/drawing/2014/main" id="{9DBCF8E1-774D-75B6-221E-DB3F012A67D5}"/>
              </a:ext>
            </a:extLst>
          </p:cNvPr>
          <p:cNvSpPr txBox="1"/>
          <p:nvPr/>
        </p:nvSpPr>
        <p:spPr>
          <a:xfrm>
            <a:off x="8033131" y="4986880"/>
            <a:ext cx="3594269" cy="369332"/>
          </a:xfrm>
          <a:prstGeom prst="rect">
            <a:avLst/>
          </a:prstGeom>
          <a:noFill/>
        </p:spPr>
        <p:txBody>
          <a:bodyPr wrap="square">
            <a:spAutoFit/>
          </a:bodyPr>
          <a:lstStyle/>
          <a:p>
            <a:pPr marL="0" indent="0">
              <a:buNone/>
            </a:pPr>
            <a:r>
              <a:rPr lang="en-US" sz="1800" b="1" dirty="0">
                <a:solidFill>
                  <a:srgbClr val="1F2937"/>
                </a:solidFill>
                <a:latin typeface="Calibri" pitchFamily="34" charset="0"/>
                <a:ea typeface="Calibri" pitchFamily="34" charset="-122"/>
                <a:cs typeface="Calibri" pitchFamily="34" charset="-120"/>
              </a:rPr>
              <a:t>Lift curve behavior (expected)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A269D627-018B-C514-1838-F94A5E054AA9}"/>
              </a:ext>
            </a:extLst>
          </p:cNvPr>
          <p:cNvSpPr/>
          <p:nvPr/>
        </p:nvSpPr>
        <p:spPr>
          <a:xfrm>
            <a:off x="502920" y="297084"/>
            <a:ext cx="11064240" cy="365760"/>
          </a:xfrm>
          <a:prstGeom prst="rect">
            <a:avLst/>
          </a:prstGeom>
          <a:noFill/>
          <a:ln/>
        </p:spPr>
        <p:txBody>
          <a:bodyPr wrap="square" rtlCol="0" anchor="ctr"/>
          <a:lstStyle/>
          <a:p>
            <a:pPr marL="0" indent="0">
              <a:buNone/>
            </a:pPr>
            <a:r>
              <a:rPr lang="en-US" sz="2000" b="1" dirty="0"/>
              <a:t>Solution /Implementation  </a:t>
            </a:r>
          </a:p>
        </p:txBody>
      </p:sp>
      <p:sp>
        <p:nvSpPr>
          <p:cNvPr id="4" name="Text 1">
            <a:extLst>
              <a:ext uri="{FF2B5EF4-FFF2-40B4-BE49-F238E27FC236}">
                <a16:creationId xmlns:a16="http://schemas.microsoft.com/office/drawing/2014/main" id="{C1558728-5FB4-9970-7961-B76B64769853}"/>
              </a:ext>
            </a:extLst>
          </p:cNvPr>
          <p:cNvSpPr/>
          <p:nvPr/>
        </p:nvSpPr>
        <p:spPr>
          <a:xfrm>
            <a:off x="548640" y="1097280"/>
            <a:ext cx="11064240" cy="36576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We need one score that reflects business priorities across multiple metrics.</a:t>
            </a:r>
            <a:endParaRPr lang="en-US" sz="1600" dirty="0"/>
          </a:p>
        </p:txBody>
      </p:sp>
      <p:sp>
        <p:nvSpPr>
          <p:cNvPr id="5" name="Shape 2">
            <a:extLst>
              <a:ext uri="{FF2B5EF4-FFF2-40B4-BE49-F238E27FC236}">
                <a16:creationId xmlns:a16="http://schemas.microsoft.com/office/drawing/2014/main" id="{933E7F56-5B3D-4085-0861-D18450283EA2}"/>
              </a:ext>
            </a:extLst>
          </p:cNvPr>
          <p:cNvSpPr/>
          <p:nvPr/>
        </p:nvSpPr>
        <p:spPr>
          <a:xfrm>
            <a:off x="548640" y="1600200"/>
            <a:ext cx="11064240" cy="502920"/>
          </a:xfrm>
          <a:prstGeom prst="roundRect">
            <a:avLst/>
          </a:prstGeom>
          <a:solidFill>
            <a:schemeClr val="bg1">
              <a:lumMod val="95000"/>
            </a:schemeClr>
          </a:solidFill>
          <a:ln w="12700">
            <a:solidFill>
              <a:srgbClr val="C7D2FE"/>
            </a:solidFill>
            <a:prstDash val="solid"/>
          </a:ln>
        </p:spPr>
        <p:txBody>
          <a:bodyPr/>
          <a:lstStyle/>
          <a:p>
            <a:endParaRPr lang="en-US" dirty="0">
              <a:solidFill>
                <a:schemeClr val="bg1">
                  <a:lumMod val="65000"/>
                </a:schemeClr>
              </a:solidFill>
            </a:endParaRPr>
          </a:p>
        </p:txBody>
      </p:sp>
      <p:sp>
        <p:nvSpPr>
          <p:cNvPr id="6" name="Text 3">
            <a:extLst>
              <a:ext uri="{FF2B5EF4-FFF2-40B4-BE49-F238E27FC236}">
                <a16:creationId xmlns:a16="http://schemas.microsoft.com/office/drawing/2014/main" id="{90721D27-8C19-483A-DB76-D761E21CD381}"/>
              </a:ext>
            </a:extLst>
          </p:cNvPr>
          <p:cNvSpPr/>
          <p:nvPr/>
        </p:nvSpPr>
        <p:spPr>
          <a:xfrm>
            <a:off x="777240" y="1700784"/>
            <a:ext cx="10607040" cy="320040"/>
          </a:xfrm>
          <a:prstGeom prst="rect">
            <a:avLst/>
          </a:prstGeom>
          <a:noFill/>
          <a:ln/>
        </p:spPr>
        <p:txBody>
          <a:bodyPr wrap="square"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Problem: metrics are on different numeric scales</a:t>
            </a:r>
            <a:endParaRPr lang="en-US" sz="1800" dirty="0"/>
          </a:p>
        </p:txBody>
      </p:sp>
      <p:sp>
        <p:nvSpPr>
          <p:cNvPr id="7" name="Text 4">
            <a:extLst>
              <a:ext uri="{FF2B5EF4-FFF2-40B4-BE49-F238E27FC236}">
                <a16:creationId xmlns:a16="http://schemas.microsoft.com/office/drawing/2014/main" id="{F44AA6DF-FA1C-A66A-20A3-9F08E6738C50}"/>
              </a:ext>
            </a:extLst>
          </p:cNvPr>
          <p:cNvSpPr/>
          <p:nvPr/>
        </p:nvSpPr>
        <p:spPr>
          <a:xfrm>
            <a:off x="822960" y="2240280"/>
            <a:ext cx="6675120" cy="1920240"/>
          </a:xfrm>
          <a:prstGeom prst="rect">
            <a:avLst/>
          </a:prstGeom>
          <a:noFill/>
          <a:ln/>
        </p:spPr>
        <p:txBody>
          <a:bodyPr wrap="square" rtlCol="0" anchor="t"/>
          <a:lstStyle/>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 Lift@10% and Lift@20% are multipliers (~2–3× here)</a:t>
            </a:r>
            <a:endParaRPr lang="en-US" sz="2000" dirty="0"/>
          </a:p>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 PR-AUC is between 0 and 1</a:t>
            </a:r>
            <a:endParaRPr lang="en-US" sz="2000" dirty="0"/>
          </a:p>
          <a:p>
            <a:pPr marL="0" indent="0">
              <a:lnSpc>
                <a:spcPct val="115000"/>
              </a:lnSpc>
              <a:buNone/>
            </a:pPr>
            <a:r>
              <a:rPr lang="en-US" sz="2000" dirty="0">
                <a:solidFill>
                  <a:srgbClr val="111827"/>
                </a:solidFill>
                <a:latin typeface="Calibri" pitchFamily="34" charset="0"/>
                <a:ea typeface="Calibri" pitchFamily="34" charset="-122"/>
                <a:cs typeface="Calibri" pitchFamily="34" charset="-120"/>
              </a:rPr>
              <a:t>• If we add raw numbers, one metric can dominate unfairly</a:t>
            </a:r>
            <a:endParaRPr lang="en-US" sz="2000" dirty="0"/>
          </a:p>
        </p:txBody>
      </p:sp>
      <p:sp>
        <p:nvSpPr>
          <p:cNvPr id="8" name="Shape 5">
            <a:extLst>
              <a:ext uri="{FF2B5EF4-FFF2-40B4-BE49-F238E27FC236}">
                <a16:creationId xmlns:a16="http://schemas.microsoft.com/office/drawing/2014/main" id="{31333BC3-35D0-1D62-9ECB-FCEF9E2FDCB2}"/>
              </a:ext>
            </a:extLst>
          </p:cNvPr>
          <p:cNvSpPr/>
          <p:nvPr/>
        </p:nvSpPr>
        <p:spPr>
          <a:xfrm>
            <a:off x="548640" y="3553460"/>
            <a:ext cx="11064240" cy="502920"/>
          </a:xfrm>
          <a:prstGeom prst="roundRect">
            <a:avLst/>
          </a:prstGeom>
          <a:solidFill>
            <a:schemeClr val="bg1">
              <a:lumMod val="95000"/>
            </a:schemeClr>
          </a:solidFill>
          <a:ln w="12700">
            <a:solidFill>
              <a:srgbClr val="C7D2FE"/>
            </a:solidFill>
            <a:prstDash val="solid"/>
          </a:ln>
        </p:spPr>
        <p:txBody>
          <a:bodyPr/>
          <a:lstStyle/>
          <a:p>
            <a:endParaRPr lang="en-US"/>
          </a:p>
        </p:txBody>
      </p:sp>
      <p:sp>
        <p:nvSpPr>
          <p:cNvPr id="9" name="Text 6">
            <a:extLst>
              <a:ext uri="{FF2B5EF4-FFF2-40B4-BE49-F238E27FC236}">
                <a16:creationId xmlns:a16="http://schemas.microsoft.com/office/drawing/2014/main" id="{82762771-F5F4-DC4C-C71C-9A7B7F195DE8}"/>
              </a:ext>
            </a:extLst>
          </p:cNvPr>
          <p:cNvSpPr/>
          <p:nvPr/>
        </p:nvSpPr>
        <p:spPr>
          <a:xfrm>
            <a:off x="777240" y="3654044"/>
            <a:ext cx="10607040" cy="320040"/>
          </a:xfrm>
          <a:prstGeom prst="rect">
            <a:avLst/>
          </a:prstGeom>
          <a:noFill/>
          <a:ln/>
        </p:spPr>
        <p:txBody>
          <a:bodyPr wrap="square"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Solution: normalize each metric to 0–1 and apply weights</a:t>
            </a:r>
            <a:endParaRPr lang="en-US" sz="1800" dirty="0"/>
          </a:p>
        </p:txBody>
      </p:sp>
      <p:sp>
        <p:nvSpPr>
          <p:cNvPr id="10" name="Shape 7">
            <a:extLst>
              <a:ext uri="{FF2B5EF4-FFF2-40B4-BE49-F238E27FC236}">
                <a16:creationId xmlns:a16="http://schemas.microsoft.com/office/drawing/2014/main" id="{60CDD20F-7DD0-6B34-D6D1-EA35C8956710}"/>
              </a:ext>
            </a:extLst>
          </p:cNvPr>
          <p:cNvSpPr/>
          <p:nvPr/>
        </p:nvSpPr>
        <p:spPr>
          <a:xfrm>
            <a:off x="822960" y="4193540"/>
            <a:ext cx="5669280" cy="1051560"/>
          </a:xfrm>
          <a:prstGeom prst="roundRect">
            <a:avLst/>
          </a:prstGeom>
          <a:solidFill>
            <a:srgbClr val="F9FAFB"/>
          </a:solidFill>
          <a:ln w="12700">
            <a:solidFill>
              <a:srgbClr val="E5E7EB"/>
            </a:solidFill>
            <a:prstDash val="solid"/>
          </a:ln>
        </p:spPr>
        <p:txBody>
          <a:bodyPr/>
          <a:lstStyle/>
          <a:p>
            <a:endParaRPr lang="en-US"/>
          </a:p>
        </p:txBody>
      </p:sp>
      <p:sp>
        <p:nvSpPr>
          <p:cNvPr id="11" name="Text 8">
            <a:extLst>
              <a:ext uri="{FF2B5EF4-FFF2-40B4-BE49-F238E27FC236}">
                <a16:creationId xmlns:a16="http://schemas.microsoft.com/office/drawing/2014/main" id="{F4C3266A-A066-6F1B-E13F-EA75EE870CE1}"/>
              </a:ext>
            </a:extLst>
          </p:cNvPr>
          <p:cNvSpPr/>
          <p:nvPr/>
        </p:nvSpPr>
        <p:spPr>
          <a:xfrm>
            <a:off x="1051560" y="4330700"/>
            <a:ext cx="521208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Min–max normalization</a:t>
            </a:r>
            <a:endParaRPr lang="en-US" sz="1600" dirty="0"/>
          </a:p>
        </p:txBody>
      </p:sp>
      <p:sp>
        <p:nvSpPr>
          <p:cNvPr id="12" name="Text 9">
            <a:extLst>
              <a:ext uri="{FF2B5EF4-FFF2-40B4-BE49-F238E27FC236}">
                <a16:creationId xmlns:a16="http://schemas.microsoft.com/office/drawing/2014/main" id="{FEAE7D09-06D4-6732-8D1F-FF73ED43ACA3}"/>
              </a:ext>
            </a:extLst>
          </p:cNvPr>
          <p:cNvSpPr/>
          <p:nvPr/>
        </p:nvSpPr>
        <p:spPr>
          <a:xfrm>
            <a:off x="1051560" y="4650740"/>
            <a:ext cx="5212080" cy="4572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norm(x) = (x − min) / (max − min)</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0 = worst model on that metric, 1 = best model on that metric.</a:t>
            </a:r>
            <a:endParaRPr lang="en-US" sz="1400" dirty="0"/>
          </a:p>
        </p:txBody>
      </p:sp>
      <p:sp>
        <p:nvSpPr>
          <p:cNvPr id="13" name="Shape 10">
            <a:extLst>
              <a:ext uri="{FF2B5EF4-FFF2-40B4-BE49-F238E27FC236}">
                <a16:creationId xmlns:a16="http://schemas.microsoft.com/office/drawing/2014/main" id="{11D2BCAD-DEBD-F7F2-BF15-7A18C7567100}"/>
              </a:ext>
            </a:extLst>
          </p:cNvPr>
          <p:cNvSpPr/>
          <p:nvPr/>
        </p:nvSpPr>
        <p:spPr>
          <a:xfrm>
            <a:off x="6858000" y="4193540"/>
            <a:ext cx="4937760" cy="1051560"/>
          </a:xfrm>
          <a:prstGeom prst="roundRect">
            <a:avLst/>
          </a:prstGeom>
          <a:solidFill>
            <a:srgbClr val="F9FAFB"/>
          </a:solidFill>
          <a:ln w="12700">
            <a:solidFill>
              <a:srgbClr val="E5E7EB"/>
            </a:solidFill>
            <a:prstDash val="solid"/>
          </a:ln>
        </p:spPr>
        <p:txBody>
          <a:bodyPr/>
          <a:lstStyle/>
          <a:p>
            <a:endParaRPr lang="en-US"/>
          </a:p>
        </p:txBody>
      </p:sp>
      <p:sp>
        <p:nvSpPr>
          <p:cNvPr id="14" name="Text 11">
            <a:extLst>
              <a:ext uri="{FF2B5EF4-FFF2-40B4-BE49-F238E27FC236}">
                <a16:creationId xmlns:a16="http://schemas.microsoft.com/office/drawing/2014/main" id="{ADF58722-CDCE-4DAD-87EF-3E40BCFE9B2E}"/>
              </a:ext>
            </a:extLst>
          </p:cNvPr>
          <p:cNvSpPr/>
          <p:nvPr/>
        </p:nvSpPr>
        <p:spPr>
          <a:xfrm>
            <a:off x="7086600" y="4330700"/>
            <a:ext cx="448056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Weighted score</a:t>
            </a:r>
            <a:endParaRPr lang="en-US" sz="1600" dirty="0"/>
          </a:p>
        </p:txBody>
      </p:sp>
      <p:sp>
        <p:nvSpPr>
          <p:cNvPr id="15" name="Text 12">
            <a:extLst>
              <a:ext uri="{FF2B5EF4-FFF2-40B4-BE49-F238E27FC236}">
                <a16:creationId xmlns:a16="http://schemas.microsoft.com/office/drawing/2014/main" id="{019AD543-72C9-557D-FE47-85E5328A7D03}"/>
              </a:ext>
            </a:extLst>
          </p:cNvPr>
          <p:cNvSpPr/>
          <p:nvPr/>
        </p:nvSpPr>
        <p:spPr>
          <a:xfrm>
            <a:off x="7086600" y="4650740"/>
            <a:ext cx="4480560" cy="4572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Score = 0.60·norm(Lift@10%) + 0.30·norm(Lift@20%) + 0.10·norm(PR-AUC)</a:t>
            </a:r>
            <a:endParaRPr lang="en-US" sz="1400" dirty="0"/>
          </a:p>
        </p:txBody>
      </p:sp>
      <p:sp>
        <p:nvSpPr>
          <p:cNvPr id="16" name="Text 13">
            <a:extLst>
              <a:ext uri="{FF2B5EF4-FFF2-40B4-BE49-F238E27FC236}">
                <a16:creationId xmlns:a16="http://schemas.microsoft.com/office/drawing/2014/main" id="{1811D927-FA8A-BEB8-22D8-13F312A43A77}"/>
              </a:ext>
            </a:extLst>
          </p:cNvPr>
          <p:cNvSpPr/>
          <p:nvPr/>
        </p:nvSpPr>
        <p:spPr>
          <a:xfrm>
            <a:off x="822960" y="5382260"/>
            <a:ext cx="2377440" cy="198120"/>
          </a:xfrm>
          <a:prstGeom prst="rect">
            <a:avLst/>
          </a:prstGeom>
          <a:noFill/>
          <a:ln/>
        </p:spPr>
        <p:txBody>
          <a:bodyPr wrap="square" rtlCol="0" anchor="ctr"/>
          <a:lstStyle/>
          <a:p>
            <a:pPr marL="0" indent="0">
              <a:buNone/>
            </a:pPr>
            <a:r>
              <a:rPr lang="en-US" sz="1400" dirty="0">
                <a:solidFill>
                  <a:srgbClr val="111827"/>
                </a:solidFill>
                <a:latin typeface="Calibri" pitchFamily="34" charset="0"/>
                <a:ea typeface="Calibri" pitchFamily="34" charset="-122"/>
                <a:cs typeface="Calibri" pitchFamily="34" charset="-120"/>
              </a:rPr>
              <a:t>Lift@10% (60%)</a:t>
            </a:r>
            <a:endParaRPr lang="en-US" sz="1400" dirty="0"/>
          </a:p>
        </p:txBody>
      </p:sp>
      <p:sp>
        <p:nvSpPr>
          <p:cNvPr id="19" name="Text 16">
            <a:extLst>
              <a:ext uri="{FF2B5EF4-FFF2-40B4-BE49-F238E27FC236}">
                <a16:creationId xmlns:a16="http://schemas.microsoft.com/office/drawing/2014/main" id="{2358E7B3-97B7-410C-03DB-A81853F0E97E}"/>
              </a:ext>
            </a:extLst>
          </p:cNvPr>
          <p:cNvSpPr/>
          <p:nvPr/>
        </p:nvSpPr>
        <p:spPr>
          <a:xfrm>
            <a:off x="822960" y="5580380"/>
            <a:ext cx="2377440" cy="198120"/>
          </a:xfrm>
          <a:prstGeom prst="rect">
            <a:avLst/>
          </a:prstGeom>
          <a:noFill/>
          <a:ln/>
        </p:spPr>
        <p:txBody>
          <a:bodyPr wrap="square" rtlCol="0" anchor="ctr"/>
          <a:lstStyle/>
          <a:p>
            <a:pPr marL="0" indent="0">
              <a:buNone/>
            </a:pPr>
            <a:r>
              <a:rPr lang="en-US" sz="1400" dirty="0">
                <a:solidFill>
                  <a:srgbClr val="111827"/>
                </a:solidFill>
                <a:latin typeface="Calibri" pitchFamily="34" charset="0"/>
                <a:ea typeface="Calibri" pitchFamily="34" charset="-122"/>
                <a:cs typeface="Calibri" pitchFamily="34" charset="-120"/>
              </a:rPr>
              <a:t>Lift@20% (30%)</a:t>
            </a:r>
            <a:endParaRPr lang="en-US" sz="1400" dirty="0"/>
          </a:p>
        </p:txBody>
      </p:sp>
      <p:sp>
        <p:nvSpPr>
          <p:cNvPr id="22" name="Text 19">
            <a:extLst>
              <a:ext uri="{FF2B5EF4-FFF2-40B4-BE49-F238E27FC236}">
                <a16:creationId xmlns:a16="http://schemas.microsoft.com/office/drawing/2014/main" id="{B3FC9823-ABB3-BD31-E100-C39EF70EAC34}"/>
              </a:ext>
            </a:extLst>
          </p:cNvPr>
          <p:cNvSpPr/>
          <p:nvPr/>
        </p:nvSpPr>
        <p:spPr>
          <a:xfrm>
            <a:off x="822960" y="5778500"/>
            <a:ext cx="2377440" cy="198120"/>
          </a:xfrm>
          <a:prstGeom prst="rect">
            <a:avLst/>
          </a:prstGeom>
          <a:noFill/>
          <a:ln/>
        </p:spPr>
        <p:txBody>
          <a:bodyPr wrap="square" rtlCol="0" anchor="ctr"/>
          <a:lstStyle/>
          <a:p>
            <a:pPr marL="0" indent="0">
              <a:buNone/>
            </a:pPr>
            <a:r>
              <a:rPr lang="en-US" sz="1400" dirty="0">
                <a:solidFill>
                  <a:srgbClr val="111827"/>
                </a:solidFill>
                <a:latin typeface="Calibri" pitchFamily="34" charset="0"/>
                <a:ea typeface="Calibri" pitchFamily="34" charset="-122"/>
                <a:cs typeface="Calibri" pitchFamily="34" charset="-120"/>
              </a:rPr>
              <a:t>PR-AUC (10%)</a:t>
            </a:r>
            <a:endParaRPr lang="en-US" sz="1400" dirty="0"/>
          </a:p>
        </p:txBody>
      </p:sp>
      <p:sp>
        <p:nvSpPr>
          <p:cNvPr id="2" name="Text 0">
            <a:extLst>
              <a:ext uri="{FF2B5EF4-FFF2-40B4-BE49-F238E27FC236}">
                <a16:creationId xmlns:a16="http://schemas.microsoft.com/office/drawing/2014/main" id="{139AD551-B991-6F26-5062-85689144EA90}"/>
              </a:ext>
            </a:extLst>
          </p:cNvPr>
          <p:cNvSpPr/>
          <p:nvPr/>
        </p:nvSpPr>
        <p:spPr>
          <a:xfrm>
            <a:off x="502920" y="763428"/>
            <a:ext cx="11109960" cy="333852"/>
          </a:xfrm>
          <a:prstGeom prst="rect">
            <a:avLst/>
          </a:prstGeom>
          <a:noFill/>
          <a:ln/>
        </p:spPr>
        <p:txBody>
          <a:bodyPr wrap="square" rtlCol="0" anchor="ctr"/>
          <a:lstStyle/>
          <a:p>
            <a:pPr marL="0" indent="0">
              <a:buNone/>
            </a:pPr>
            <a:r>
              <a:rPr lang="en-US" sz="2000" b="1" dirty="0">
                <a:solidFill>
                  <a:srgbClr val="1F2937"/>
                </a:solidFill>
                <a:latin typeface="Calibri" pitchFamily="34" charset="0"/>
                <a:ea typeface="Calibri" pitchFamily="34" charset="-122"/>
                <a:cs typeface="Calibri" pitchFamily="34" charset="-120"/>
              </a:rPr>
              <a:t>4) Weighted model scoring: why min–max normalization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F9FAFB"/>
        </a:solidFill>
        <a:effectLst/>
      </p:bgPr>
    </p:bg>
    <p:spTree>
      <p:nvGrpSpPr>
        <p:cNvPr id="1" name=""/>
        <p:cNvGrpSpPr/>
        <p:nvPr/>
      </p:nvGrpSpPr>
      <p:grpSpPr>
        <a:xfrm>
          <a:off x="0" y="0"/>
          <a:ext cx="0" cy="0"/>
          <a:chOff x="0" y="0"/>
          <a:chExt cx="0" cy="0"/>
        </a:xfrm>
      </p:grpSpPr>
      <p:sp>
        <p:nvSpPr>
          <p:cNvPr id="3" name="Text 1"/>
          <p:cNvSpPr/>
          <p:nvPr/>
        </p:nvSpPr>
        <p:spPr>
          <a:xfrm>
            <a:off x="548640" y="932688"/>
            <a:ext cx="11064240" cy="365760"/>
          </a:xfrm>
          <a:prstGeom prst="rect">
            <a:avLst/>
          </a:prstGeom>
          <a:noFill/>
          <a:ln/>
        </p:spPr>
        <p:txBody>
          <a:bodyPr wrap="square" rtlCol="0" anchor="ctr"/>
          <a:lstStyle/>
          <a:p>
            <a:r>
              <a:rPr lang="en-US" sz="1600" b="1" i="1" dirty="0" err="1">
                <a:solidFill>
                  <a:srgbClr val="4B5563"/>
                </a:solidFill>
                <a:latin typeface="Aptos" pitchFamily="34" charset="0"/>
                <a:ea typeface="Aptos" pitchFamily="34" charset="-122"/>
                <a:cs typeface="Aptos" pitchFamily="34" charset="-120"/>
              </a:rPr>
              <a:t>Lift@k</a:t>
            </a:r>
            <a:r>
              <a:rPr lang="en-US" sz="1600" b="1" i="1" dirty="0">
                <a:solidFill>
                  <a:srgbClr val="4B5563"/>
                </a:solidFill>
                <a:latin typeface="Aptos" pitchFamily="34" charset="0"/>
                <a:ea typeface="Aptos" pitchFamily="34" charset="-122"/>
                <a:cs typeface="Aptos" pitchFamily="34" charset="-120"/>
              </a:rPr>
              <a:t> tells us how much better we are than random selection</a:t>
            </a:r>
            <a:endParaRPr lang="en-US" sz="1600" b="1" i="1" dirty="0"/>
          </a:p>
        </p:txBody>
      </p:sp>
      <p:sp>
        <p:nvSpPr>
          <p:cNvPr id="7" name="Shape 5"/>
          <p:cNvSpPr/>
          <p:nvPr/>
        </p:nvSpPr>
        <p:spPr>
          <a:xfrm>
            <a:off x="548640" y="1505338"/>
            <a:ext cx="11064240" cy="4575421"/>
          </a:xfrm>
          <a:prstGeom prst="roundRect">
            <a:avLst>
              <a:gd name="adj" fmla="val 3806"/>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graphicFrame>
        <p:nvGraphicFramePr>
          <p:cNvPr id="13" name="Table 12">
            <a:extLst>
              <a:ext uri="{FF2B5EF4-FFF2-40B4-BE49-F238E27FC236}">
                <a16:creationId xmlns:a16="http://schemas.microsoft.com/office/drawing/2014/main" id="{BB9015F5-770E-AEF8-AFDF-B253EF5EDDB9}"/>
              </a:ext>
            </a:extLst>
          </p:cNvPr>
          <p:cNvGraphicFramePr>
            <a:graphicFrameLocks noGrp="1"/>
          </p:cNvGraphicFramePr>
          <p:nvPr>
            <p:extLst>
              <p:ext uri="{D42A27DB-BD31-4B8C-83A1-F6EECF244321}">
                <p14:modId xmlns:p14="http://schemas.microsoft.com/office/powerpoint/2010/main" val="3142629466"/>
              </p:ext>
            </p:extLst>
          </p:nvPr>
        </p:nvGraphicFramePr>
        <p:xfrm>
          <a:off x="822960" y="1747935"/>
          <a:ext cx="10572828" cy="4177377"/>
        </p:xfrm>
        <a:graphic>
          <a:graphicData uri="http://schemas.openxmlformats.org/drawingml/2006/table">
            <a:tbl>
              <a:tblPr firstRow="1" bandRow="1">
                <a:tableStyleId>{073A0DAA-6AF3-43AB-8588-CEC1D06C72B9}</a:tableStyleId>
              </a:tblPr>
              <a:tblGrid>
                <a:gridCol w="3213936">
                  <a:extLst>
                    <a:ext uri="{9D8B030D-6E8A-4147-A177-3AD203B41FA5}">
                      <a16:colId xmlns:a16="http://schemas.microsoft.com/office/drawing/2014/main" val="1614333158"/>
                    </a:ext>
                  </a:extLst>
                </a:gridCol>
                <a:gridCol w="1925812">
                  <a:extLst>
                    <a:ext uri="{9D8B030D-6E8A-4147-A177-3AD203B41FA5}">
                      <a16:colId xmlns:a16="http://schemas.microsoft.com/office/drawing/2014/main" val="816794734"/>
                    </a:ext>
                  </a:extLst>
                </a:gridCol>
                <a:gridCol w="1708996">
                  <a:extLst>
                    <a:ext uri="{9D8B030D-6E8A-4147-A177-3AD203B41FA5}">
                      <a16:colId xmlns:a16="http://schemas.microsoft.com/office/drawing/2014/main" val="2477431085"/>
                    </a:ext>
                  </a:extLst>
                </a:gridCol>
                <a:gridCol w="1874797">
                  <a:extLst>
                    <a:ext uri="{9D8B030D-6E8A-4147-A177-3AD203B41FA5}">
                      <a16:colId xmlns:a16="http://schemas.microsoft.com/office/drawing/2014/main" val="618427934"/>
                    </a:ext>
                  </a:extLst>
                </a:gridCol>
                <a:gridCol w="1849287">
                  <a:extLst>
                    <a:ext uri="{9D8B030D-6E8A-4147-A177-3AD203B41FA5}">
                      <a16:colId xmlns:a16="http://schemas.microsoft.com/office/drawing/2014/main" val="2614148540"/>
                    </a:ext>
                  </a:extLst>
                </a:gridCol>
              </a:tblGrid>
              <a:tr h="974607">
                <a:tc>
                  <a:txBody>
                    <a:bodyPr/>
                    <a:lstStyle/>
                    <a:p>
                      <a:r>
                        <a:rPr lang="en-US" b="0" dirty="0">
                          <a:solidFill>
                            <a:schemeClr val="bg1"/>
                          </a:solidFill>
                          <a:effectLst/>
                        </a:rPr>
                        <a:t>Model</a:t>
                      </a:r>
                      <a:endParaRPr lang="en-US" dirty="0">
                        <a:solidFill>
                          <a:schemeClr val="bg1"/>
                        </a:solidFill>
                      </a:endParaRPr>
                    </a:p>
                  </a:txBody>
                  <a:tcPr/>
                </a:tc>
                <a:tc>
                  <a:txBody>
                    <a:bodyPr/>
                    <a:lstStyle/>
                    <a:p>
                      <a:r>
                        <a:rPr lang="en-US" b="0" dirty="0" err="1">
                          <a:solidFill>
                            <a:schemeClr val="bg1"/>
                          </a:solidFill>
                          <a:effectLst/>
                        </a:rPr>
                        <a:t>weighted_score</a:t>
                      </a:r>
                      <a:endParaRPr lang="en-US" dirty="0">
                        <a:solidFill>
                          <a:schemeClr val="bg1"/>
                        </a:solidFill>
                      </a:endParaRPr>
                    </a:p>
                  </a:txBody>
                  <a:tcPr/>
                </a:tc>
                <a:tc>
                  <a:txBody>
                    <a:bodyPr/>
                    <a:lstStyle/>
                    <a:p>
                      <a:r>
                        <a:rPr lang="en-US" b="0" dirty="0">
                          <a:solidFill>
                            <a:schemeClr val="bg1"/>
                          </a:solidFill>
                          <a:effectLst/>
                        </a:rPr>
                        <a:t>lift@10%</a:t>
                      </a:r>
                      <a:endParaRPr lang="en-US" dirty="0">
                        <a:solidFill>
                          <a:schemeClr val="bg1"/>
                        </a:solidFill>
                      </a:endParaRPr>
                    </a:p>
                  </a:txBody>
                  <a:tcPr/>
                </a:tc>
                <a:tc>
                  <a:txBody>
                    <a:bodyPr/>
                    <a:lstStyle/>
                    <a:p>
                      <a:r>
                        <a:rPr lang="en-US" b="0" dirty="0">
                          <a:solidFill>
                            <a:schemeClr val="bg1"/>
                          </a:solidFill>
                          <a:effectLst/>
                        </a:rPr>
                        <a:t>lift@20%</a:t>
                      </a:r>
                      <a:endParaRPr lang="en-US" dirty="0">
                        <a:solidFill>
                          <a:schemeClr val="bg1"/>
                        </a:solidFill>
                      </a:endParaRPr>
                    </a:p>
                  </a:txBody>
                  <a:tcPr/>
                </a:tc>
                <a:tc>
                  <a:txBody>
                    <a:bodyPr/>
                    <a:lstStyle/>
                    <a:p>
                      <a:r>
                        <a:rPr lang="en-US" b="0" dirty="0" err="1">
                          <a:solidFill>
                            <a:schemeClr val="bg1"/>
                          </a:solidFill>
                          <a:effectLst/>
                        </a:rPr>
                        <a:t>pr_auc</a:t>
                      </a:r>
                      <a:endParaRPr lang="en-US" dirty="0">
                        <a:solidFill>
                          <a:schemeClr val="bg1"/>
                        </a:solidFill>
                      </a:endParaRPr>
                    </a:p>
                  </a:txBody>
                  <a:tcPr/>
                </a:tc>
                <a:extLst>
                  <a:ext uri="{0D108BD9-81ED-4DB2-BD59-A6C34878D82A}">
                    <a16:rowId xmlns:a16="http://schemas.microsoft.com/office/drawing/2014/main" val="4222372413"/>
                  </a:ext>
                </a:extLst>
              </a:tr>
              <a:tr h="1376931">
                <a:tc>
                  <a:txBody>
                    <a:bodyPr/>
                    <a:lstStyle/>
                    <a:p>
                      <a:r>
                        <a:rPr lang="en-US" sz="1800" b="0" kern="1200" dirty="0" err="1">
                          <a:solidFill>
                            <a:schemeClr val="dk1"/>
                          </a:solidFill>
                          <a:effectLst/>
                        </a:rPr>
                        <a:t>logistic_regression_balanced</a:t>
                      </a:r>
                      <a:endParaRPr lang="en-US" dirty="0"/>
                    </a:p>
                  </a:txBody>
                  <a:tcPr/>
                </a:tc>
                <a:tc>
                  <a:txBody>
                    <a:bodyPr/>
                    <a:lstStyle/>
                    <a:p>
                      <a:r>
                        <a:rPr lang="en-US" sz="1800" b="0" kern="1200" dirty="0">
                          <a:solidFill>
                            <a:schemeClr val="dk1"/>
                          </a:solidFill>
                          <a:effectLst/>
                        </a:rPr>
                        <a:t>0.850000</a:t>
                      </a:r>
                      <a:endParaRPr lang="en-US" dirty="0"/>
                    </a:p>
                  </a:txBody>
                  <a:tcPr/>
                </a:tc>
                <a:tc>
                  <a:txBody>
                    <a:bodyPr/>
                    <a:lstStyle/>
                    <a:p>
                      <a:r>
                        <a:rPr lang="en-US" sz="1800" b="0" kern="1200" dirty="0">
                          <a:solidFill>
                            <a:schemeClr val="dk1"/>
                          </a:solidFill>
                          <a:effectLst/>
                        </a:rPr>
                        <a:t> 2.858934</a:t>
                      </a:r>
                      <a:endParaRPr lang="en-US" dirty="0"/>
                    </a:p>
                  </a:txBody>
                  <a:tcPr/>
                </a:tc>
                <a:tc>
                  <a:txBody>
                    <a:bodyPr/>
                    <a:lstStyle/>
                    <a:p>
                      <a:r>
                        <a:rPr lang="en-US" sz="1800" b="0" kern="1200" dirty="0">
                          <a:solidFill>
                            <a:schemeClr val="dk1"/>
                          </a:solidFill>
                          <a:effectLst/>
                        </a:rPr>
                        <a:t> 2.565024</a:t>
                      </a:r>
                      <a:endParaRPr lang="en-US" dirty="0"/>
                    </a:p>
                  </a:txBody>
                  <a:tcPr/>
                </a:tc>
                <a:tc>
                  <a:txBody>
                    <a:bodyPr/>
                    <a:lstStyle/>
                    <a:p>
                      <a:r>
                        <a:rPr lang="en-US" sz="1800" b="0" kern="1200" dirty="0">
                          <a:solidFill>
                            <a:schemeClr val="dk1"/>
                          </a:solidFill>
                          <a:effectLst/>
                        </a:rPr>
                        <a:t> 0.654469</a:t>
                      </a:r>
                      <a:endParaRPr lang="en-US" dirty="0"/>
                    </a:p>
                  </a:txBody>
                  <a:tcPr/>
                </a:tc>
                <a:extLst>
                  <a:ext uri="{0D108BD9-81ED-4DB2-BD59-A6C34878D82A}">
                    <a16:rowId xmlns:a16="http://schemas.microsoft.com/office/drawing/2014/main" val="351337386"/>
                  </a:ext>
                </a:extLst>
              </a:tr>
              <a:tr h="974607">
                <a:tc>
                  <a:txBody>
                    <a:bodyPr/>
                    <a:lstStyle/>
                    <a:p>
                      <a:r>
                        <a:rPr lang="en-US" sz="1800" b="0" kern="1200" dirty="0" err="1">
                          <a:solidFill>
                            <a:schemeClr val="dk1"/>
                          </a:solidFill>
                          <a:effectLst/>
                        </a:rPr>
                        <a:t>hist_gradient_boosting</a:t>
                      </a:r>
                      <a:endParaRPr lang="en-US" dirty="0"/>
                    </a:p>
                  </a:txBody>
                  <a:tcPr/>
                </a:tc>
                <a:tc>
                  <a:txBody>
                    <a:bodyPr/>
                    <a:lstStyle/>
                    <a:p>
                      <a:r>
                        <a:rPr lang="en-US" sz="1800" b="0" kern="1200" dirty="0">
                          <a:solidFill>
                            <a:schemeClr val="dk1"/>
                          </a:solidFill>
                          <a:effectLst/>
                        </a:rPr>
                        <a:t>0.715092</a:t>
                      </a:r>
                      <a:endParaRPr lang="en-US" dirty="0"/>
                    </a:p>
                  </a:txBody>
                  <a:tcPr/>
                </a:tc>
                <a:tc>
                  <a:txBody>
                    <a:bodyPr/>
                    <a:lstStyle/>
                    <a:p>
                      <a:r>
                        <a:rPr lang="en-US" sz="1800" b="0" kern="1200" dirty="0">
                          <a:solidFill>
                            <a:schemeClr val="dk1"/>
                          </a:solidFill>
                          <a:effectLst/>
                        </a:rPr>
                        <a:t>2.885653</a:t>
                      </a:r>
                      <a:endParaRPr lang="en-US" dirty="0"/>
                    </a:p>
                  </a:txBody>
                  <a:tcPr/>
                </a:tc>
                <a:tc>
                  <a:txBody>
                    <a:bodyPr/>
                    <a:lstStyle/>
                    <a:p>
                      <a:r>
                        <a:rPr lang="en-US" sz="1800" b="0" kern="1200" dirty="0">
                          <a:solidFill>
                            <a:schemeClr val="dk1"/>
                          </a:solidFill>
                          <a:effectLst/>
                        </a:rPr>
                        <a:t>2.444789</a:t>
                      </a:r>
                      <a:endParaRPr lang="en-US" dirty="0"/>
                    </a:p>
                  </a:txBody>
                  <a:tcPr/>
                </a:tc>
                <a:tc>
                  <a:txBody>
                    <a:bodyPr/>
                    <a:lstStyle/>
                    <a:p>
                      <a:r>
                        <a:rPr lang="en-US" sz="1800" b="0" kern="1200" dirty="0">
                          <a:solidFill>
                            <a:schemeClr val="dk1"/>
                          </a:solidFill>
                          <a:effectLst/>
                        </a:rPr>
                        <a:t>0.640127</a:t>
                      </a:r>
                      <a:endParaRPr lang="en-US" dirty="0"/>
                    </a:p>
                  </a:txBody>
                  <a:tcPr/>
                </a:tc>
                <a:extLst>
                  <a:ext uri="{0D108BD9-81ED-4DB2-BD59-A6C34878D82A}">
                    <a16:rowId xmlns:a16="http://schemas.microsoft.com/office/drawing/2014/main" val="3624545239"/>
                  </a:ext>
                </a:extLst>
              </a:tr>
              <a:tr h="851232">
                <a:tc>
                  <a:txBody>
                    <a:bodyPr/>
                    <a:lstStyle/>
                    <a:p>
                      <a:r>
                        <a:rPr lang="en-US" sz="1800" b="0" kern="1200" dirty="0" err="1">
                          <a:solidFill>
                            <a:schemeClr val="dk1"/>
                          </a:solidFill>
                          <a:effectLst/>
                        </a:rPr>
                        <a:t>logistic_regression</a:t>
                      </a:r>
                      <a:endParaRPr lang="en-US" dirty="0"/>
                    </a:p>
                  </a:txBody>
                  <a:tcPr/>
                </a:tc>
                <a:tc>
                  <a:txBody>
                    <a:bodyPr/>
                    <a:lstStyle/>
                    <a:p>
                      <a:r>
                        <a:rPr lang="en-US" sz="1800" b="0" kern="1200" dirty="0">
                          <a:solidFill>
                            <a:schemeClr val="dk1"/>
                          </a:solidFill>
                          <a:effectLst/>
                        </a:rPr>
                        <a:t>0.663915</a:t>
                      </a:r>
                      <a:endParaRPr lang="en-US" dirty="0"/>
                    </a:p>
                  </a:txBody>
                  <a:tcPr/>
                </a:tc>
                <a:tc>
                  <a:txBody>
                    <a:bodyPr/>
                    <a:lstStyle/>
                    <a:p>
                      <a:r>
                        <a:rPr lang="en-US" sz="1800" b="0" kern="1200" dirty="0">
                          <a:solidFill>
                            <a:schemeClr val="dk1"/>
                          </a:solidFill>
                          <a:effectLst/>
                        </a:rPr>
                        <a:t>2.832215</a:t>
                      </a:r>
                      <a:endParaRPr lang="en-US" dirty="0"/>
                    </a:p>
                  </a:txBody>
                  <a:tcPr/>
                </a:tc>
                <a:tc>
                  <a:txBody>
                    <a:bodyPr/>
                    <a:lstStyle/>
                    <a:p>
                      <a:r>
                        <a:rPr lang="en-US" sz="1800" b="0" kern="1200" dirty="0">
                          <a:solidFill>
                            <a:schemeClr val="dk1"/>
                          </a:solidFill>
                          <a:effectLst/>
                        </a:rPr>
                        <a:t>2.551665</a:t>
                      </a:r>
                      <a:endParaRPr lang="en-US" dirty="0"/>
                    </a:p>
                  </a:txBody>
                  <a:tcPr/>
                </a:tc>
                <a:tc>
                  <a:txBody>
                    <a:bodyPr/>
                    <a:lstStyle/>
                    <a:p>
                      <a:r>
                        <a:rPr lang="en-US" sz="1800" b="0" kern="1200" dirty="0">
                          <a:solidFill>
                            <a:schemeClr val="dk1"/>
                          </a:solidFill>
                          <a:effectLst/>
                        </a:rPr>
                        <a:t>0.652185</a:t>
                      </a:r>
                      <a:endParaRPr lang="en-US" dirty="0"/>
                    </a:p>
                  </a:txBody>
                  <a:tcPr/>
                </a:tc>
                <a:extLst>
                  <a:ext uri="{0D108BD9-81ED-4DB2-BD59-A6C34878D82A}">
                    <a16:rowId xmlns:a16="http://schemas.microsoft.com/office/drawing/2014/main" val="1447872128"/>
                  </a:ext>
                </a:extLst>
              </a:tr>
            </a:tbl>
          </a:graphicData>
        </a:graphic>
      </p:graphicFrame>
      <p:sp>
        <p:nvSpPr>
          <p:cNvPr id="14" name="Text 0">
            <a:extLst>
              <a:ext uri="{FF2B5EF4-FFF2-40B4-BE49-F238E27FC236}">
                <a16:creationId xmlns:a16="http://schemas.microsoft.com/office/drawing/2014/main" id="{2158033B-07FD-EAF0-127C-AFD9FB591F92}"/>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4) Weighted model scoring: why min–max normalization</a:t>
            </a:r>
            <a:endParaRPr lang="en-US" sz="3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0B95CC0-3154-20C5-85EF-C7018BFC2AD0}"/>
              </a:ext>
            </a:extLst>
          </p:cNvPr>
          <p:cNvSpPr/>
          <p:nvPr/>
        </p:nvSpPr>
        <p:spPr>
          <a:xfrm>
            <a:off x="548640" y="320040"/>
            <a:ext cx="11064240" cy="731520"/>
          </a:xfrm>
          <a:prstGeom prst="rect">
            <a:avLst/>
          </a:prstGeom>
          <a:noFill/>
          <a:ln/>
        </p:spPr>
        <p:txBody>
          <a:bodyPr wrap="square" rtlCol="0" anchor="ctr"/>
          <a:lstStyle/>
          <a:p>
            <a:pPr marL="0" indent="0">
              <a:buNone/>
            </a:pPr>
            <a:r>
              <a:rPr lang="en-US" sz="3400" b="1" dirty="0">
                <a:solidFill>
                  <a:srgbClr val="1F2937"/>
                </a:solidFill>
                <a:latin typeface="Calibri" pitchFamily="34" charset="0"/>
                <a:ea typeface="Calibri" pitchFamily="34" charset="-122"/>
                <a:cs typeface="Calibri" pitchFamily="34" charset="-120"/>
              </a:rPr>
              <a:t>4) Challenger decision</a:t>
            </a:r>
            <a:endParaRPr lang="en-US" sz="3400" dirty="0"/>
          </a:p>
        </p:txBody>
      </p:sp>
      <p:sp>
        <p:nvSpPr>
          <p:cNvPr id="3" name="Text 1">
            <a:extLst>
              <a:ext uri="{FF2B5EF4-FFF2-40B4-BE49-F238E27FC236}">
                <a16:creationId xmlns:a16="http://schemas.microsoft.com/office/drawing/2014/main" id="{A67D34BF-B254-EA94-E669-4A33A71019D3}"/>
              </a:ext>
            </a:extLst>
          </p:cNvPr>
          <p:cNvSpPr/>
          <p:nvPr/>
        </p:nvSpPr>
        <p:spPr>
          <a:xfrm>
            <a:off x="548640" y="1097280"/>
            <a:ext cx="11064240" cy="365760"/>
          </a:xfrm>
          <a:prstGeom prst="rect">
            <a:avLst/>
          </a:prstGeom>
          <a:noFill/>
          <a:ln/>
        </p:spPr>
        <p:txBody>
          <a:bodyPr wrap="square" rtlCol="0" anchor="ctr"/>
          <a:lstStyle/>
          <a:p>
            <a:pPr marL="0" indent="0">
              <a:buNone/>
            </a:pPr>
            <a:r>
              <a:rPr lang="en-US" sz="1600" dirty="0">
                <a:solidFill>
                  <a:srgbClr val="374151"/>
                </a:solidFill>
                <a:latin typeface="Calibri" pitchFamily="34" charset="0"/>
                <a:ea typeface="Calibri" pitchFamily="34" charset="-122"/>
                <a:cs typeface="Calibri" pitchFamily="34" charset="-120"/>
              </a:rPr>
              <a:t>Decision uses weighted score with min–max normalization.</a:t>
            </a:r>
            <a:endParaRPr lang="en-US" sz="1600" dirty="0"/>
          </a:p>
        </p:txBody>
      </p:sp>
      <p:sp>
        <p:nvSpPr>
          <p:cNvPr id="4" name="Shape 2">
            <a:extLst>
              <a:ext uri="{FF2B5EF4-FFF2-40B4-BE49-F238E27FC236}">
                <a16:creationId xmlns:a16="http://schemas.microsoft.com/office/drawing/2014/main" id="{54E70AEF-4D5F-FE9B-4244-3A07FD368477}"/>
              </a:ext>
            </a:extLst>
          </p:cNvPr>
          <p:cNvSpPr/>
          <p:nvPr/>
        </p:nvSpPr>
        <p:spPr>
          <a:xfrm>
            <a:off x="822960" y="1828800"/>
            <a:ext cx="5669280" cy="1920240"/>
          </a:xfrm>
          <a:prstGeom prst="roundRect">
            <a:avLst>
              <a:gd name="adj" fmla="val 8892"/>
            </a:avLst>
          </a:prstGeom>
          <a:solidFill>
            <a:schemeClr val="bg1">
              <a:lumMod val="95000"/>
            </a:schemeClr>
          </a:solidFill>
          <a:ln w="12700">
            <a:solidFill>
              <a:srgbClr val="E5E7EB"/>
            </a:solidFill>
            <a:prstDash val="solid"/>
          </a:ln>
        </p:spPr>
        <p:txBody>
          <a:bodyPr/>
          <a:lstStyle/>
          <a:p>
            <a:endParaRPr lang="en-US"/>
          </a:p>
        </p:txBody>
      </p:sp>
      <p:sp>
        <p:nvSpPr>
          <p:cNvPr id="5" name="Text 3">
            <a:extLst>
              <a:ext uri="{FF2B5EF4-FFF2-40B4-BE49-F238E27FC236}">
                <a16:creationId xmlns:a16="http://schemas.microsoft.com/office/drawing/2014/main" id="{261A886C-2324-CAFB-14CE-B2610449BD58}"/>
              </a:ext>
            </a:extLst>
          </p:cNvPr>
          <p:cNvSpPr/>
          <p:nvPr/>
        </p:nvSpPr>
        <p:spPr>
          <a:xfrm>
            <a:off x="1051560" y="1965960"/>
            <a:ext cx="521208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Champion (Production default)</a:t>
            </a:r>
            <a:endParaRPr lang="en-US" sz="1600" dirty="0"/>
          </a:p>
        </p:txBody>
      </p:sp>
      <p:sp>
        <p:nvSpPr>
          <p:cNvPr id="6" name="Text 4">
            <a:extLst>
              <a:ext uri="{FF2B5EF4-FFF2-40B4-BE49-F238E27FC236}">
                <a16:creationId xmlns:a16="http://schemas.microsoft.com/office/drawing/2014/main" id="{00436AC6-C732-3B55-F90B-2D78DF1C7291}"/>
              </a:ext>
            </a:extLst>
          </p:cNvPr>
          <p:cNvSpPr/>
          <p:nvPr/>
        </p:nvSpPr>
        <p:spPr>
          <a:xfrm>
            <a:off x="1051560" y="2286000"/>
            <a:ext cx="5212080" cy="132588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Logistic Regression (balanced)</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Why: best overall weighted score (strong Lift@20% + strong PR-AUC + high Lift@10%).</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Best all-round choice for Top 10% and Top 20% targeting.</a:t>
            </a:r>
            <a:endParaRPr lang="en-US" sz="1400" dirty="0"/>
          </a:p>
        </p:txBody>
      </p:sp>
      <p:sp>
        <p:nvSpPr>
          <p:cNvPr id="7" name="Shape 5">
            <a:extLst>
              <a:ext uri="{FF2B5EF4-FFF2-40B4-BE49-F238E27FC236}">
                <a16:creationId xmlns:a16="http://schemas.microsoft.com/office/drawing/2014/main" id="{CDDC40CB-8158-9E1A-D482-0B76830B3749}"/>
              </a:ext>
            </a:extLst>
          </p:cNvPr>
          <p:cNvSpPr/>
          <p:nvPr/>
        </p:nvSpPr>
        <p:spPr>
          <a:xfrm>
            <a:off x="822960" y="3886200"/>
            <a:ext cx="5669280" cy="1508760"/>
          </a:xfrm>
          <a:prstGeom prst="roundRect">
            <a:avLst>
              <a:gd name="adj" fmla="val 8834"/>
            </a:avLst>
          </a:prstGeom>
          <a:solidFill>
            <a:schemeClr val="bg1">
              <a:lumMod val="95000"/>
            </a:schemeClr>
          </a:solidFill>
          <a:ln w="12700">
            <a:solidFill>
              <a:srgbClr val="E5E7EB"/>
            </a:solidFill>
            <a:prstDash val="solid"/>
          </a:ln>
        </p:spPr>
        <p:txBody>
          <a:bodyPr/>
          <a:lstStyle/>
          <a:p>
            <a:endParaRPr lang="en-US"/>
          </a:p>
        </p:txBody>
      </p:sp>
      <p:sp>
        <p:nvSpPr>
          <p:cNvPr id="8" name="Text 6">
            <a:extLst>
              <a:ext uri="{FF2B5EF4-FFF2-40B4-BE49-F238E27FC236}">
                <a16:creationId xmlns:a16="http://schemas.microsoft.com/office/drawing/2014/main" id="{E328DA4C-6B23-5E0C-253E-F6B6DF372935}"/>
              </a:ext>
            </a:extLst>
          </p:cNvPr>
          <p:cNvSpPr/>
          <p:nvPr/>
        </p:nvSpPr>
        <p:spPr>
          <a:xfrm>
            <a:off x="1051560" y="4023360"/>
            <a:ext cx="5212080" cy="274320"/>
          </a:xfrm>
          <a:prstGeom prst="rect">
            <a:avLst/>
          </a:prstGeom>
          <a:noFill/>
          <a:ln/>
        </p:spPr>
        <p:txBody>
          <a:bodyPr wrap="square"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Challenger (Pilot comparison)</a:t>
            </a:r>
            <a:endParaRPr lang="en-US" sz="1600" dirty="0"/>
          </a:p>
        </p:txBody>
      </p:sp>
      <p:sp>
        <p:nvSpPr>
          <p:cNvPr id="9" name="Text 7">
            <a:extLst>
              <a:ext uri="{FF2B5EF4-FFF2-40B4-BE49-F238E27FC236}">
                <a16:creationId xmlns:a16="http://schemas.microsoft.com/office/drawing/2014/main" id="{07DED70A-AB48-4A43-7D75-5B31566475FC}"/>
              </a:ext>
            </a:extLst>
          </p:cNvPr>
          <p:cNvSpPr/>
          <p:nvPr/>
        </p:nvSpPr>
        <p:spPr>
          <a:xfrm>
            <a:off x="1051560" y="4343400"/>
            <a:ext cx="5212080" cy="914400"/>
          </a:xfrm>
          <a:prstGeom prst="rect">
            <a:avLst/>
          </a:prstGeom>
          <a:noFill/>
          <a:ln/>
        </p:spPr>
        <p:txBody>
          <a:bodyPr wrap="square" rtlCol="0" anchor="t"/>
          <a:lstStyle/>
          <a:p>
            <a:pPr marL="0" indent="0">
              <a:buNone/>
            </a:pPr>
            <a:r>
              <a:rPr lang="en-US" sz="1400" dirty="0">
                <a:solidFill>
                  <a:srgbClr val="374151"/>
                </a:solidFill>
                <a:latin typeface="Calibri" pitchFamily="34" charset="0"/>
                <a:ea typeface="Calibri" pitchFamily="34" charset="-122"/>
                <a:cs typeface="Calibri" pitchFamily="34" charset="-120"/>
              </a:rPr>
              <a:t>HistGradientBoosting</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Why: best Lift@10% (“Top 10% sniper”).</a:t>
            </a:r>
            <a:endParaRPr lang="en-US" sz="1400" dirty="0"/>
          </a:p>
          <a:p>
            <a:pPr marL="0" indent="0">
              <a:buNone/>
            </a:pPr>
            <a:r>
              <a:rPr lang="en-US" sz="1400" dirty="0">
                <a:solidFill>
                  <a:srgbClr val="374151"/>
                </a:solidFill>
                <a:latin typeface="Calibri" pitchFamily="34" charset="0"/>
                <a:ea typeface="Calibri" pitchFamily="34" charset="-122"/>
                <a:cs typeface="Calibri" pitchFamily="34" charset="-120"/>
              </a:rPr>
              <a:t>Test head-to-head vs Champion in pilot for incremental ROI.</a:t>
            </a:r>
            <a:endParaRPr lang="en-US" sz="1400" dirty="0"/>
          </a:p>
        </p:txBody>
      </p:sp>
      <p:sp>
        <p:nvSpPr>
          <p:cNvPr id="10" name="Shape 8">
            <a:extLst>
              <a:ext uri="{FF2B5EF4-FFF2-40B4-BE49-F238E27FC236}">
                <a16:creationId xmlns:a16="http://schemas.microsoft.com/office/drawing/2014/main" id="{56D11AEE-CA98-DC92-6023-3694010FB18C}"/>
              </a:ext>
            </a:extLst>
          </p:cNvPr>
          <p:cNvSpPr/>
          <p:nvPr/>
        </p:nvSpPr>
        <p:spPr>
          <a:xfrm>
            <a:off x="6858000" y="1828800"/>
            <a:ext cx="4937760" cy="3566160"/>
          </a:xfrm>
          <a:prstGeom prst="roundRect">
            <a:avLst>
              <a:gd name="adj" fmla="val 3585"/>
            </a:avLst>
          </a:prstGeom>
          <a:solidFill>
            <a:schemeClr val="bg1">
              <a:lumMod val="95000"/>
            </a:schemeClr>
          </a:solidFill>
          <a:ln w="12700">
            <a:solidFill>
              <a:srgbClr val="C7D2FE"/>
            </a:solidFill>
            <a:prstDash val="solid"/>
          </a:ln>
        </p:spPr>
        <p:txBody>
          <a:bodyPr/>
          <a:lstStyle/>
          <a:p>
            <a:endParaRPr lang="en-US"/>
          </a:p>
        </p:txBody>
      </p:sp>
      <p:sp>
        <p:nvSpPr>
          <p:cNvPr id="11" name="Text 9">
            <a:extLst>
              <a:ext uri="{FF2B5EF4-FFF2-40B4-BE49-F238E27FC236}">
                <a16:creationId xmlns:a16="http://schemas.microsoft.com/office/drawing/2014/main" id="{7BF125FB-244C-A48F-5B6B-90EE82E209DE}"/>
              </a:ext>
            </a:extLst>
          </p:cNvPr>
          <p:cNvSpPr/>
          <p:nvPr/>
        </p:nvSpPr>
        <p:spPr>
          <a:xfrm>
            <a:off x="7132320" y="2011680"/>
            <a:ext cx="4480560" cy="365760"/>
          </a:xfrm>
          <a:prstGeom prst="rect">
            <a:avLst/>
          </a:prstGeom>
          <a:noFill/>
          <a:ln/>
        </p:spPr>
        <p:txBody>
          <a:bodyPr wrap="square"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Weighted score formula</a:t>
            </a:r>
            <a:endParaRPr lang="en-US" sz="1800" dirty="0"/>
          </a:p>
        </p:txBody>
      </p:sp>
      <p:sp>
        <p:nvSpPr>
          <p:cNvPr id="12" name="Text 10">
            <a:extLst>
              <a:ext uri="{FF2B5EF4-FFF2-40B4-BE49-F238E27FC236}">
                <a16:creationId xmlns:a16="http://schemas.microsoft.com/office/drawing/2014/main" id="{2575D22A-1B3E-2B8C-4AF0-028D50B43D17}"/>
              </a:ext>
            </a:extLst>
          </p:cNvPr>
          <p:cNvSpPr/>
          <p:nvPr/>
        </p:nvSpPr>
        <p:spPr>
          <a:xfrm>
            <a:off x="7132320" y="2514600"/>
            <a:ext cx="4480560" cy="457200"/>
          </a:xfrm>
          <a:prstGeom prst="rect">
            <a:avLst/>
          </a:prstGeom>
          <a:noFill/>
          <a:ln/>
        </p:spPr>
        <p:txBody>
          <a:bodyPr wrap="square" rtlCol="0" anchor="ctr"/>
          <a:lstStyle/>
          <a:p>
            <a:pPr marL="0" indent="0">
              <a:buNone/>
            </a:pPr>
            <a:r>
              <a:rPr lang="en-US" sz="2000" b="1" dirty="0">
                <a:solidFill>
                  <a:srgbClr val="111827"/>
                </a:solidFill>
                <a:latin typeface="Calibri" pitchFamily="34" charset="0"/>
                <a:ea typeface="Calibri" pitchFamily="34" charset="-122"/>
                <a:cs typeface="Calibri" pitchFamily="34" charset="-120"/>
              </a:rPr>
              <a:t>norm(x) = (x − min) / (max − min)</a:t>
            </a:r>
            <a:endParaRPr lang="en-US" sz="2000" dirty="0"/>
          </a:p>
        </p:txBody>
      </p:sp>
      <p:sp>
        <p:nvSpPr>
          <p:cNvPr id="13" name="Text 11">
            <a:extLst>
              <a:ext uri="{FF2B5EF4-FFF2-40B4-BE49-F238E27FC236}">
                <a16:creationId xmlns:a16="http://schemas.microsoft.com/office/drawing/2014/main" id="{F7DC75B6-19B4-6A8B-E27D-E202223750BE}"/>
              </a:ext>
            </a:extLst>
          </p:cNvPr>
          <p:cNvSpPr/>
          <p:nvPr/>
        </p:nvSpPr>
        <p:spPr>
          <a:xfrm>
            <a:off x="7132320" y="3063240"/>
            <a:ext cx="4480560" cy="914400"/>
          </a:xfrm>
          <a:prstGeom prst="rect">
            <a:avLst/>
          </a:prstGeom>
          <a:noFill/>
          <a:ln/>
        </p:spPr>
        <p:txBody>
          <a:bodyPr wrap="square" rtlCol="0" anchor="ctr"/>
          <a:lstStyle/>
          <a:p>
            <a:pPr marL="0" indent="0">
              <a:buNone/>
            </a:pPr>
            <a:r>
              <a:rPr lang="en-US" sz="1800" dirty="0">
                <a:solidFill>
                  <a:srgbClr val="111827"/>
                </a:solidFill>
                <a:latin typeface="Calibri" pitchFamily="34" charset="0"/>
                <a:ea typeface="Calibri" pitchFamily="34" charset="-122"/>
                <a:cs typeface="Calibri" pitchFamily="34" charset="-120"/>
              </a:rPr>
              <a:t>Score = 0.60·norm(Lift@10%) + 0.30·norm(Lift@20%) + 0.10·norm(PR-AUC)</a:t>
            </a:r>
            <a:endParaRPr lang="en-US" sz="1800" dirty="0"/>
          </a:p>
        </p:txBody>
      </p:sp>
      <p:sp>
        <p:nvSpPr>
          <p:cNvPr id="14" name="Text 12">
            <a:extLst>
              <a:ext uri="{FF2B5EF4-FFF2-40B4-BE49-F238E27FC236}">
                <a16:creationId xmlns:a16="http://schemas.microsoft.com/office/drawing/2014/main" id="{3EF44508-1637-E207-1A4C-2565CA4C9DCE}"/>
              </a:ext>
            </a:extLst>
          </p:cNvPr>
          <p:cNvSpPr/>
          <p:nvPr/>
        </p:nvSpPr>
        <p:spPr>
          <a:xfrm>
            <a:off x="7132320" y="4160520"/>
            <a:ext cx="4480560" cy="1005840"/>
          </a:xfrm>
          <a:prstGeom prst="rect">
            <a:avLst/>
          </a:prstGeom>
          <a:noFill/>
          <a:ln/>
        </p:spPr>
        <p:txBody>
          <a:bodyPr wrap="square" rtlCol="0" anchor="ctr"/>
          <a:lstStyle/>
          <a:p>
            <a:pPr marL="0" indent="0">
              <a:buNone/>
            </a:pPr>
            <a:r>
              <a:rPr lang="en-US" sz="1400" dirty="0">
                <a:solidFill>
                  <a:srgbClr val="374151"/>
                </a:solidFill>
                <a:latin typeface="Calibri" pitchFamily="34" charset="0"/>
                <a:ea typeface="Calibri" pitchFamily="34" charset="-122"/>
                <a:cs typeface="Calibri" pitchFamily="34" charset="-120"/>
              </a:rPr>
              <a:t>We convert each metric to a fair 0–1 grade, then add them using the business weights.</a:t>
            </a:r>
            <a:endParaRPr lang="en-US" sz="1400" dirty="0"/>
          </a:p>
        </p:txBody>
      </p:sp>
    </p:spTree>
    <p:extLst>
      <p:ext uri="{BB962C8B-B14F-4D97-AF65-F5344CB8AC3E}">
        <p14:creationId xmlns:p14="http://schemas.microsoft.com/office/powerpoint/2010/main" val="2117386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rtlCol="0" anchor="ctr"/>
          <a:lstStyle/>
          <a:p>
            <a:pPr marL="0" indent="0">
              <a:buNone/>
            </a:pPr>
            <a:r>
              <a:rPr lang="en-US" sz="3400" b="1" dirty="0">
                <a:solidFill>
                  <a:srgbClr val="1F2937"/>
                </a:solidFill>
                <a:latin typeface="Aptos Display" pitchFamily="34" charset="0"/>
                <a:ea typeface="Aptos Display" pitchFamily="34" charset="-122"/>
                <a:cs typeface="Aptos Display" pitchFamily="34" charset="-120"/>
              </a:rPr>
              <a:t>5) Deployment &amp; readiness (app + pilot)</a:t>
            </a:r>
            <a:endParaRPr lang="en-US" sz="3400" dirty="0"/>
          </a:p>
        </p:txBody>
      </p:sp>
      <p:sp>
        <p:nvSpPr>
          <p:cNvPr id="3" name="Text 1"/>
          <p:cNvSpPr/>
          <p:nvPr/>
        </p:nvSpPr>
        <p:spPr>
          <a:xfrm>
            <a:off x="548640" y="932688"/>
            <a:ext cx="11064240" cy="365760"/>
          </a:xfrm>
          <a:prstGeom prst="rect">
            <a:avLst/>
          </a:prstGeom>
          <a:noFill/>
          <a:ln/>
        </p:spPr>
        <p:txBody>
          <a:bodyPr wrap="square" rtlCol="0" anchor="ctr"/>
          <a:lstStyle/>
          <a:p>
            <a:pPr marL="0" indent="0">
              <a:buNone/>
            </a:pPr>
            <a:r>
              <a:rPr lang="en-US" sz="1600" dirty="0">
                <a:solidFill>
                  <a:srgbClr val="4B5563"/>
                </a:solidFill>
                <a:latin typeface="Aptos" pitchFamily="34" charset="0"/>
                <a:ea typeface="Aptos" pitchFamily="34" charset="-122"/>
                <a:cs typeface="Aptos" pitchFamily="34" charset="-120"/>
              </a:rPr>
              <a:t>Turn scores into action, then prove ROI with a controlled pilot</a:t>
            </a:r>
            <a:endParaRPr lang="en-US" sz="1600" dirty="0"/>
          </a:p>
        </p:txBody>
      </p:sp>
      <p:sp>
        <p:nvSpPr>
          <p:cNvPr id="4" name="Shape 2"/>
          <p:cNvSpPr/>
          <p:nvPr/>
        </p:nvSpPr>
        <p:spPr>
          <a:xfrm>
            <a:off x="548640" y="1417320"/>
            <a:ext cx="5486400" cy="4663440"/>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5" name="Text 3"/>
          <p:cNvSpPr/>
          <p:nvPr/>
        </p:nvSpPr>
        <p:spPr>
          <a:xfrm>
            <a:off x="822960" y="1618488"/>
            <a:ext cx="4937760" cy="274320"/>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Streamlit app components</a:t>
            </a:r>
            <a:endParaRPr lang="en-US" sz="1600" dirty="0"/>
          </a:p>
        </p:txBody>
      </p:sp>
      <p:sp>
        <p:nvSpPr>
          <p:cNvPr id="6" name="Text 4"/>
          <p:cNvSpPr/>
          <p:nvPr/>
        </p:nvSpPr>
        <p:spPr>
          <a:xfrm>
            <a:off x="868680" y="1965960"/>
            <a:ext cx="4937760" cy="4023360"/>
          </a:xfrm>
          <a:prstGeom prst="rect">
            <a:avLst/>
          </a:prstGeom>
          <a:noFill/>
          <a:ln/>
        </p:spPr>
        <p:txBody>
          <a:bodyPr wrap="square" rtlCol="0" anchor="t"/>
          <a:lstStyle/>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Controls: model choice, Top 10%/20%, minimum threshold, holdout metrics toggle.</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Scoring: align input features to the model’s expected schema and compute probabilities.</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Outputs: prioritized table + CSV export for operations.</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Metrics: fixed churn label (Churn_Yes) to prevent invalid evaluation.</a:t>
            </a:r>
            <a:endParaRPr lang="en-US" sz="1500" dirty="0"/>
          </a:p>
        </p:txBody>
      </p:sp>
      <p:sp>
        <p:nvSpPr>
          <p:cNvPr id="7" name="Shape 5"/>
          <p:cNvSpPr/>
          <p:nvPr/>
        </p:nvSpPr>
        <p:spPr>
          <a:xfrm>
            <a:off x="6217920" y="1417320"/>
            <a:ext cx="5394960" cy="4663440"/>
          </a:xfrm>
          <a:prstGeom prst="roundRect">
            <a:avLst/>
          </a:prstGeom>
          <a:solidFill>
            <a:srgbClr val="FFFFFF"/>
          </a:solidFill>
          <a:ln w="12700">
            <a:solidFill>
              <a:srgbClr val="E5E7EB"/>
            </a:solidFill>
            <a:prstDash val="solid"/>
          </a:ln>
          <a:effectLst>
            <a:outerShdw blurRad="38100" dist="12700" dir="2700000" algn="bl" rotWithShape="0">
              <a:srgbClr val="000000">
                <a:alpha val="12000"/>
              </a:srgbClr>
            </a:outerShdw>
          </a:effectLst>
        </p:spPr>
        <p:txBody>
          <a:bodyPr/>
          <a:lstStyle/>
          <a:p>
            <a:endParaRPr lang="en-US"/>
          </a:p>
        </p:txBody>
      </p:sp>
      <p:sp>
        <p:nvSpPr>
          <p:cNvPr id="8" name="Text 6"/>
          <p:cNvSpPr/>
          <p:nvPr/>
        </p:nvSpPr>
        <p:spPr>
          <a:xfrm>
            <a:off x="6492240" y="1618488"/>
            <a:ext cx="4846320" cy="274320"/>
          </a:xfrm>
          <a:prstGeom prst="rect">
            <a:avLst/>
          </a:prstGeom>
          <a:noFill/>
          <a:ln/>
        </p:spPr>
        <p:txBody>
          <a:bodyPr wrap="square" rtlCol="0" anchor="ctr"/>
          <a:lstStyle/>
          <a:p>
            <a:pPr marL="0" indent="0">
              <a:buNone/>
            </a:pPr>
            <a:r>
              <a:rPr lang="en-US" sz="1600" b="1" dirty="0">
                <a:solidFill>
                  <a:srgbClr val="111827"/>
                </a:solidFill>
                <a:latin typeface="Aptos Display" pitchFamily="34" charset="0"/>
                <a:ea typeface="Aptos Display" pitchFamily="34" charset="-122"/>
                <a:cs typeface="Aptos Display" pitchFamily="34" charset="-120"/>
              </a:rPr>
              <a:t>Pilot &amp; monitoring (5 bullet plan)</a:t>
            </a:r>
            <a:endParaRPr lang="en-US" sz="1600" dirty="0"/>
          </a:p>
        </p:txBody>
      </p:sp>
      <p:sp>
        <p:nvSpPr>
          <p:cNvPr id="9" name="Text 7"/>
          <p:cNvSpPr/>
          <p:nvPr/>
        </p:nvSpPr>
        <p:spPr>
          <a:xfrm>
            <a:off x="6537960" y="1965960"/>
            <a:ext cx="4846320" cy="4023360"/>
          </a:xfrm>
          <a:prstGeom prst="rect">
            <a:avLst/>
          </a:prstGeom>
          <a:noFill/>
          <a:ln/>
        </p:spPr>
        <p:txBody>
          <a:bodyPr wrap="square" rtlCol="0" anchor="t"/>
          <a:lstStyle/>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Pilot: randomize within Top 10% into Treatment vs Control.</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Measure: churn uplift + ROI after offer and outreach cost.</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Calibration: make probabilities reliable for threshold-based policies.</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Drift monitoring: feature drift + score drift + Lift@k stability.</a:t>
            </a:r>
            <a:endParaRPr lang="en-US" sz="1500" dirty="0"/>
          </a:p>
          <a:p>
            <a:pPr marL="228600" indent="-228600">
              <a:lnSpc>
                <a:spcPct val="110000"/>
              </a:lnSpc>
              <a:buSzPct val="100000"/>
              <a:buChar char="•"/>
            </a:pPr>
            <a:r>
              <a:rPr lang="en-US" sz="1500" dirty="0">
                <a:solidFill>
                  <a:srgbClr val="111827"/>
                </a:solidFill>
                <a:latin typeface="Aptos" pitchFamily="34" charset="0"/>
                <a:ea typeface="Aptos" pitchFamily="34" charset="-122"/>
                <a:cs typeface="Aptos" pitchFamily="34" charset="-120"/>
              </a:rPr>
              <a:t>Decision: scale champion; keep challenger for periodic re-tests.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a:extLst>
            <a:ext uri="{FF2B5EF4-FFF2-40B4-BE49-F238E27FC236}">
              <a16:creationId xmlns:a16="http://schemas.microsoft.com/office/drawing/2014/main" id="{C900F140-D357-E96E-11EB-BA83D568AB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F9E778-D7F7-385B-7E6E-F249B7E4D070}"/>
              </a:ext>
            </a:extLst>
          </p:cNvPr>
          <p:cNvSpPr/>
          <p:nvPr/>
        </p:nvSpPr>
        <p:spPr>
          <a:xfrm>
            <a:off x="548640" y="338328"/>
            <a:ext cx="11288175" cy="548640"/>
          </a:xfrm>
          <a:prstGeom prst="rect">
            <a:avLst/>
          </a:prstGeom>
          <a:noFill/>
          <a:ln/>
        </p:spPr>
        <p:txBody>
          <a:bodyPr wrap="square" rtlCol="0" anchor="ctr"/>
          <a:lstStyle/>
          <a:p>
            <a:r>
              <a:rPr lang="en-US" sz="3400" b="1" dirty="0" err="1">
                <a:solidFill>
                  <a:srgbClr val="1F2937"/>
                </a:solidFill>
                <a:latin typeface="Aptos Display" pitchFamily="34" charset="0"/>
              </a:rPr>
              <a:t>Streamlit</a:t>
            </a:r>
            <a:r>
              <a:rPr lang="en-US" sz="3400" b="1" dirty="0">
                <a:solidFill>
                  <a:srgbClr val="1F2937"/>
                </a:solidFill>
                <a:latin typeface="Aptos Display" pitchFamily="34" charset="0"/>
              </a:rPr>
              <a:t> App</a:t>
            </a:r>
          </a:p>
        </p:txBody>
      </p:sp>
      <p:pic>
        <p:nvPicPr>
          <p:cNvPr id="4" name="Picture 3">
            <a:extLst>
              <a:ext uri="{FF2B5EF4-FFF2-40B4-BE49-F238E27FC236}">
                <a16:creationId xmlns:a16="http://schemas.microsoft.com/office/drawing/2014/main" id="{A95D6FA3-3586-876B-2B29-9BBA30A891CF}"/>
              </a:ext>
            </a:extLst>
          </p:cNvPr>
          <p:cNvPicPr>
            <a:picLocks noChangeAspect="1"/>
          </p:cNvPicPr>
          <p:nvPr/>
        </p:nvPicPr>
        <p:blipFill>
          <a:blip r:embed="rId3"/>
          <a:stretch>
            <a:fillRect/>
          </a:stretch>
        </p:blipFill>
        <p:spPr>
          <a:xfrm>
            <a:off x="548640" y="976604"/>
            <a:ext cx="11288175" cy="5328643"/>
          </a:xfrm>
          <a:prstGeom prst="rect">
            <a:avLst/>
          </a:prstGeom>
        </p:spPr>
      </p:pic>
    </p:spTree>
    <p:extLst>
      <p:ext uri="{BB962C8B-B14F-4D97-AF65-F5344CB8AC3E}">
        <p14:creationId xmlns:p14="http://schemas.microsoft.com/office/powerpoint/2010/main" val="762827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585</TotalTime>
  <Words>2034</Words>
  <Application>Microsoft Office PowerPoint</Application>
  <PresentationFormat>Widescreen</PresentationFormat>
  <Paragraphs>173</Paragraphs>
  <Slides>11</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Calibri</vt:lpstr>
      <vt:lpstr>Cascadia Code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Bilikisu</dc:creator>
  <cp:lastModifiedBy>Adekunle samson</cp:lastModifiedBy>
  <cp:revision>7</cp:revision>
  <dcterms:created xsi:type="dcterms:W3CDTF">2026-01-14T11:14:50Z</dcterms:created>
  <dcterms:modified xsi:type="dcterms:W3CDTF">2026-01-14T21:30:46Z</dcterms:modified>
</cp:coreProperties>
</file>